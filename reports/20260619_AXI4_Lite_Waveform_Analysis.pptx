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F75BA-933C-9033-80AE-1AF21A896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4259B0-CD8E-4D5E-31A7-970FD1DB87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312B47-3A9D-7095-FC10-FA2A353BB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C4D-C244-489A-A8BE-9DB24C3C54F8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C66132-1F4E-CB2E-1914-19707C95A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757B70-69B6-030F-F541-C68C0D6F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F618-8B85-43E6-A73A-F14EAED92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526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597D0-C1EA-1D2A-70AF-5119A5C4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92C296-F8E2-34CF-FC89-03FA6FF89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5BF7DF-6091-A426-C9DB-A65572CF5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C4D-C244-489A-A8BE-9DB24C3C54F8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75867B-B3A2-1158-1C55-ABD785A2E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AA7B1C-E526-900A-954F-EC59B7CFC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F618-8B85-43E6-A73A-F14EAED92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42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C822D0-80E0-DB4A-4484-3140E5B3C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1996A5-4A75-C8F5-D88A-83482A7B5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283E29-D448-C613-5F0F-D7DDC8FB6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C4D-C244-489A-A8BE-9DB24C3C54F8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43A258-6B56-85C5-35BD-F4197E37F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65B413-93A2-5C1B-6BA8-10199BA8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F618-8B85-43E6-A73A-F14EAED92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07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A7380E-402E-CBA1-B02C-9BF0389D1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ADDA32-C54C-1A70-723E-665BC3C59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FB8ADF-1B90-7FCA-3C5D-D8EE86031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01609C-6200-5BBE-1857-5998C674D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C4D-C244-489A-A8BE-9DB24C3C54F8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7B5122-6978-90AB-DBAC-D33C48316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C5CE33-8164-9B16-5EE4-BB5D05DEB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F618-8B85-43E6-A73A-F14EAED92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346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AE5E90-9A19-E188-2FE7-2F02CE713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E5A6BE-D26C-A3DE-D93F-C8F732278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5C679F-F643-8B0F-D9DD-44BA71504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4BB4710-1F8C-2CE1-B950-744C8F5D81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6A13F3-CE47-5ACA-DDD3-585F92F1B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FB2A4F-D521-39A3-5E7E-78E085C15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C4D-C244-489A-A8BE-9DB24C3C54F8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98F2FC-371D-2AA6-AFF3-5B57999E6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80CAC9-7994-0672-6FB5-DC2E56DFC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F618-8B85-43E6-A73A-F14EAED92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545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CC2606-C42B-305E-E9FE-A43DA6D9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0BB003-C871-17A7-7C98-60BD4955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C4D-C244-489A-A8BE-9DB24C3C54F8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2FF350-A73F-EF62-8C83-6BA7EC469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1F51134-AB5A-1BE0-9599-202E4E046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F618-8B85-43E6-A73A-F14EAED92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97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87AEDF-A7D6-05FB-89BB-59C97F81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C4D-C244-489A-A8BE-9DB24C3C54F8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0664E02-333A-DE5C-657E-3399E3232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1628E1-5105-FF12-9FA4-F931EAD9B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F618-8B85-43E6-A73A-F14EAED92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308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738DD5-B4E8-8FD3-CEF6-61AAAB521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8521C7-D8FB-2955-4376-2DA6DCD9A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94AF51-2129-6741-BF56-D2F937D43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4B9B64-75E7-CCE1-5412-291804D91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C4D-C244-489A-A8BE-9DB24C3C54F8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80CF22-9468-9A88-F604-72DFC26CC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FF258D-326A-C3DB-7346-91E97A37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F618-8B85-43E6-A73A-F14EAED92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826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D4AF5-F5DC-2F7D-35CE-77C255AC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BE447CA-5764-D39E-0E59-2EEA36DC0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99FC44-25E2-E58E-3E64-3A3E64D01B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A0C94D-11B1-97B4-9191-A03A91C04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C4D-C244-489A-A8BE-9DB24C3C54F8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EB7746-A655-24FD-5CF7-52A09EEF7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D10A29-7C46-4ABE-7882-FC121CD0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F618-8B85-43E6-A73A-F14EAED92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542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AC558-89CF-AF1F-E4FD-6AE692280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15530E-0FC7-8AAE-FF64-DABEA2ED7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906980-37D4-78B3-6870-8BA7DA090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C4D-C244-489A-A8BE-9DB24C3C54F8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5E276-64F1-DEEF-9A66-B637E91D9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4E4464-C04B-4BA0-DAA7-55B469AE9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F618-8B85-43E6-A73A-F14EAED92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153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72ADAB-92BD-E8E4-BD9B-9B69E72675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A6B3897-15C0-FFAE-C280-87064CC3A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200B50-CE34-E53B-1AF6-55EE4377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C4D-C244-489A-A8BE-9DB24C3C54F8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D1F4AA-513A-6794-C33B-E74AB7480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6C5A6F-34D7-1BD0-4006-4352AB7FC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5FF618-8B85-43E6-A73A-F14EAED92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3978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809F0DB-A9C7-3A02-9400-561F4976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E6C2CA8-3D80-0E49-616A-B5E4CFA07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8D622D-0A2B-562B-7AAE-9098430DC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8F1C4D-C244-489A-A8BE-9DB24C3C54F8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E8EA39-456F-DE9C-45BE-02B0A6902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50BD11-8D1F-4C2A-435E-216434894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5FF618-8B85-43E6-A73A-F14EAED92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25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425E97-5901-BE9E-25E1-642EA750913B}"/>
              </a:ext>
            </a:extLst>
          </p:cNvPr>
          <p:cNvSpPr txBox="1"/>
          <p:nvPr/>
        </p:nvSpPr>
        <p:spPr>
          <a:xfrm>
            <a:off x="431800" y="254000"/>
            <a:ext cx="11176000" cy="420628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altLang="ko-KR" sz="2400" b="1">
                <a:solidFill>
                  <a:srgbClr val="000000"/>
                </a:solidFill>
                <a:latin typeface="Malgun Gothic" panose="020B0503020000020004" pitchFamily="50" charset="-127"/>
              </a:rPr>
              <a:t>Vivado/XSim Waveform </a:t>
            </a:r>
            <a:r>
              <a:rPr lang="ko-KR" altLang="en-US" sz="2400" b="1">
                <a:solidFill>
                  <a:srgbClr val="000000"/>
                </a:solidFill>
                <a:latin typeface="Malgun Gothic" panose="020B0503020000020004" pitchFamily="50" charset="-127"/>
              </a:rPr>
              <a:t>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1F86D-EE5E-56F3-8D9A-42832C181873}"/>
              </a:ext>
            </a:extLst>
          </p:cNvPr>
          <p:cNvSpPr txBox="1"/>
          <p:nvPr/>
        </p:nvSpPr>
        <p:spPr>
          <a:xfrm>
            <a:off x="457200" y="698500"/>
            <a:ext cx="10795000" cy="235962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altLang="ko-KR" sz="1200">
                <a:solidFill>
                  <a:srgbClr val="404040"/>
                </a:solidFill>
                <a:latin typeface="Malgun Gothic" panose="020B0503020000020004" pitchFamily="50" charset="-127"/>
              </a:rPr>
              <a:t>Scope/Object </a:t>
            </a:r>
            <a:r>
              <a:rPr lang="ko-KR" altLang="en-US" sz="1200">
                <a:solidFill>
                  <a:srgbClr val="404040"/>
                </a:solidFill>
                <a:latin typeface="Malgun Gothic" panose="020B0503020000020004" pitchFamily="50" charset="-127"/>
              </a:rPr>
              <a:t>패널 제외</a:t>
            </a:r>
            <a:r>
              <a:rPr lang="en-US" altLang="ko-KR" sz="1200">
                <a:solidFill>
                  <a:srgbClr val="404040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200">
                <a:solidFill>
                  <a:srgbClr val="404040"/>
                </a:solidFill>
                <a:latin typeface="Malgun Gothic" panose="020B0503020000020004" pitchFamily="50" charset="-127"/>
              </a:rPr>
              <a:t>실제 </a:t>
            </a:r>
            <a:r>
              <a:rPr lang="en-US" altLang="ko-KR" sz="1200">
                <a:solidFill>
                  <a:srgbClr val="404040"/>
                </a:solidFill>
                <a:latin typeface="Malgun Gothic" panose="020B0503020000020004" pitchFamily="50" charset="-127"/>
              </a:rPr>
              <a:t>Vivado waveform viewer </a:t>
            </a:r>
            <a:r>
              <a:rPr lang="ko-KR" altLang="en-US" sz="1200">
                <a:solidFill>
                  <a:srgbClr val="404040"/>
                </a:solidFill>
                <a:latin typeface="Malgun Gothic" panose="020B0503020000020004" pitchFamily="50" charset="-127"/>
              </a:rPr>
              <a:t>영역만 캡처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C54466-A833-0348-EE77-922E61681A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1168400"/>
            <a:ext cx="5334000" cy="4978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57A59C4-9898-4A8C-86E4-1F6DD3623A0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500" y="1168400"/>
            <a:ext cx="5334000" cy="49784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A8DA2CA-290E-0F74-9E0D-9CA90C0EF441}"/>
              </a:ext>
            </a:extLst>
          </p:cNvPr>
          <p:cNvSpPr/>
          <p:nvPr/>
        </p:nvSpPr>
        <p:spPr>
          <a:xfrm>
            <a:off x="609600" y="1295400"/>
            <a:ext cx="1841500" cy="3048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</a:rPr>
              <a:t>WRITE waveform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CB4DF80-AD43-13ED-3554-D69E60402C4B}"/>
              </a:ext>
            </a:extLst>
          </p:cNvPr>
          <p:cNvSpPr/>
          <p:nvPr/>
        </p:nvSpPr>
        <p:spPr>
          <a:xfrm>
            <a:off x="6604000" y="1295400"/>
            <a:ext cx="1714500" cy="30480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</a:rPr>
              <a:t>READ waveform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2135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504739-DDFD-0424-9BED-9628A4E7BAA0}"/>
              </a:ext>
            </a:extLst>
          </p:cNvPr>
          <p:cNvSpPr txBox="1"/>
          <p:nvPr/>
        </p:nvSpPr>
        <p:spPr>
          <a:xfrm>
            <a:off x="381000" y="228600"/>
            <a:ext cx="10668000" cy="389850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altLang="ko-KR" sz="2200" b="1">
                <a:solidFill>
                  <a:srgbClr val="000000"/>
                </a:solidFill>
                <a:latin typeface="Malgun Gothic" panose="020B0503020000020004" pitchFamily="50" charset="-127"/>
              </a:rPr>
              <a:t>Write Transaction Waveform</a:t>
            </a:r>
            <a:endParaRPr lang="ko-KR" altLang="en-US" sz="22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083C40F-A995-85E9-9065-C1016D8527A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762000"/>
            <a:ext cx="7112000" cy="5080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C2B6692-F682-5DDE-4D33-2FDD3A35B339}"/>
              </a:ext>
            </a:extLst>
          </p:cNvPr>
          <p:cNvSpPr/>
          <p:nvPr/>
        </p:nvSpPr>
        <p:spPr>
          <a:xfrm>
            <a:off x="2857500" y="2921000"/>
            <a:ext cx="4267200" cy="23495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E14E546-F60A-BAA6-922F-7CF47FB0CB80}"/>
              </a:ext>
            </a:extLst>
          </p:cNvPr>
          <p:cNvCxnSpPr/>
          <p:nvPr/>
        </p:nvCxnSpPr>
        <p:spPr>
          <a:xfrm flipV="1">
            <a:off x="6350000" y="1587500"/>
            <a:ext cx="1905000" cy="130810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3468EE2-5CE8-3154-8A1C-89BB6C8766FF}"/>
              </a:ext>
            </a:extLst>
          </p:cNvPr>
          <p:cNvSpPr/>
          <p:nvPr/>
        </p:nvSpPr>
        <p:spPr>
          <a:xfrm>
            <a:off x="7937500" y="1041400"/>
            <a:ext cx="3619500" cy="1371600"/>
          </a:xfrm>
          <a:prstGeom prst="roundRect">
            <a:avLst/>
          </a:prstGeom>
          <a:solidFill>
            <a:srgbClr val="ECF9FF"/>
          </a:solidFill>
          <a:ln w="15875">
            <a:solidFill>
              <a:srgbClr val="ADAD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AW/W/B 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채널 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handshake:</a:t>
            </a:r>
          </a:p>
          <a:p>
            <a:pPr algn="ctr"/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AWVALID-AWREADY: 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주소 수락</a:t>
            </a:r>
          </a:p>
          <a:p>
            <a:pPr algn="ctr"/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WVALID-WREADY: 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데이터 수락</a:t>
            </a:r>
          </a:p>
          <a:p>
            <a:pPr algn="ctr"/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BVALID-BREADY: write response 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완료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E8D1007-58BC-6B8A-8FB2-68F47295CB34}"/>
              </a:ext>
            </a:extLst>
          </p:cNvPr>
          <p:cNvSpPr/>
          <p:nvPr/>
        </p:nvSpPr>
        <p:spPr>
          <a:xfrm>
            <a:off x="7937500" y="2794000"/>
            <a:ext cx="3619500" cy="13716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addr/AWADDR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wdata/WDATA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가 같은 순서로 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0x00, 0x04, 0x08, 0x0C 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및 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11111111~44444444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를 전달한다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. slave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는 각 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transaction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마다 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BVALID/BRESP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로 정상 응답한다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AB7401D-24AC-BCEB-7574-B09DE2609339}"/>
              </a:ext>
            </a:extLst>
          </p:cNvPr>
          <p:cNvSpPr/>
          <p:nvPr/>
        </p:nvSpPr>
        <p:spPr>
          <a:xfrm>
            <a:off x="1473200" y="5943600"/>
            <a:ext cx="1168400" cy="2794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</a:rPr>
              <a:t>86 ns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2B03E60-3A5C-DCE1-5537-5CBF5DA8EF31}"/>
              </a:ext>
            </a:extLst>
          </p:cNvPr>
          <p:cNvSpPr/>
          <p:nvPr/>
        </p:nvSpPr>
        <p:spPr>
          <a:xfrm>
            <a:off x="2870200" y="5943600"/>
            <a:ext cx="1168400" cy="2794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</a:rPr>
              <a:t>136 ns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19D7165-827E-BB61-53AB-737A81D0D36A}"/>
              </a:ext>
            </a:extLst>
          </p:cNvPr>
          <p:cNvSpPr/>
          <p:nvPr/>
        </p:nvSpPr>
        <p:spPr>
          <a:xfrm>
            <a:off x="4279900" y="5943600"/>
            <a:ext cx="1168400" cy="2794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</a:rPr>
              <a:t>186 ns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D4220EE-F635-84F4-37DF-2639369424BF}"/>
              </a:ext>
            </a:extLst>
          </p:cNvPr>
          <p:cNvSpPr/>
          <p:nvPr/>
        </p:nvSpPr>
        <p:spPr>
          <a:xfrm>
            <a:off x="5689600" y="5943600"/>
            <a:ext cx="1168400" cy="279400"/>
          </a:xfrm>
          <a:prstGeom prst="round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</a:rPr>
              <a:t>236 ns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982944-B673-0BF1-9D4A-467CA483F39A}"/>
              </a:ext>
            </a:extLst>
          </p:cNvPr>
          <p:cNvSpPr txBox="1"/>
          <p:nvPr/>
        </p:nvSpPr>
        <p:spPr>
          <a:xfrm>
            <a:off x="1320800" y="6273800"/>
            <a:ext cx="1473200" cy="205184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altLang="ko-KR" sz="1000">
                <a:solidFill>
                  <a:srgbClr val="000000"/>
                </a:solidFill>
                <a:latin typeface="Malgun Gothic" panose="020B0503020000020004" pitchFamily="50" charset="-127"/>
              </a:rPr>
              <a:t>0x00 / 11111111</a:t>
            </a:r>
            <a:endParaRPr lang="ko-KR" altLang="en-US" sz="10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5B04CD-BE8D-26D1-9781-617F15AFC8B0}"/>
              </a:ext>
            </a:extLst>
          </p:cNvPr>
          <p:cNvSpPr txBox="1"/>
          <p:nvPr/>
        </p:nvSpPr>
        <p:spPr>
          <a:xfrm>
            <a:off x="2717800" y="6273800"/>
            <a:ext cx="1473200" cy="205184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altLang="ko-KR" sz="1000">
                <a:solidFill>
                  <a:srgbClr val="000000"/>
                </a:solidFill>
                <a:latin typeface="Malgun Gothic" panose="020B0503020000020004" pitchFamily="50" charset="-127"/>
              </a:rPr>
              <a:t>0x04 / 22222222</a:t>
            </a:r>
            <a:endParaRPr lang="ko-KR" altLang="en-US" sz="10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4BA24B-7479-8612-3521-BBAA3B8C0882}"/>
              </a:ext>
            </a:extLst>
          </p:cNvPr>
          <p:cNvSpPr txBox="1"/>
          <p:nvPr/>
        </p:nvSpPr>
        <p:spPr>
          <a:xfrm>
            <a:off x="4140200" y="6273800"/>
            <a:ext cx="1473200" cy="205184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altLang="ko-KR" sz="1000">
                <a:solidFill>
                  <a:srgbClr val="000000"/>
                </a:solidFill>
                <a:latin typeface="Malgun Gothic" panose="020B0503020000020004" pitchFamily="50" charset="-127"/>
              </a:rPr>
              <a:t>0x08 / 33333333</a:t>
            </a:r>
            <a:endParaRPr lang="ko-KR" altLang="en-US" sz="10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BBAEE3-8CA0-C552-DAE4-E05F4A6A1980}"/>
              </a:ext>
            </a:extLst>
          </p:cNvPr>
          <p:cNvSpPr txBox="1"/>
          <p:nvPr/>
        </p:nvSpPr>
        <p:spPr>
          <a:xfrm>
            <a:off x="5562600" y="6273800"/>
            <a:ext cx="1473200" cy="205184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altLang="ko-KR" sz="1000">
                <a:solidFill>
                  <a:srgbClr val="000000"/>
                </a:solidFill>
                <a:latin typeface="Malgun Gothic" panose="020B0503020000020004" pitchFamily="50" charset="-127"/>
              </a:rPr>
              <a:t>0x0C / 44444444</a:t>
            </a:r>
            <a:endParaRPr lang="ko-KR" altLang="en-US" sz="10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2283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53C09D-086E-993A-2F73-C74BF6627506}"/>
              </a:ext>
            </a:extLst>
          </p:cNvPr>
          <p:cNvSpPr txBox="1"/>
          <p:nvPr/>
        </p:nvSpPr>
        <p:spPr>
          <a:xfrm>
            <a:off x="381000" y="228600"/>
            <a:ext cx="10668000" cy="389850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altLang="ko-KR" sz="2200" b="1">
                <a:solidFill>
                  <a:srgbClr val="000000"/>
                </a:solidFill>
                <a:latin typeface="Malgun Gothic" panose="020B0503020000020004" pitchFamily="50" charset="-127"/>
              </a:rPr>
              <a:t>Read Transaction Waveform</a:t>
            </a:r>
            <a:endParaRPr lang="ko-KR" altLang="en-US" sz="22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8B60A2-CE0B-03C6-7AC6-5286C37A945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762000"/>
            <a:ext cx="7112000" cy="508000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51AEB0E-82FF-1537-89B4-B4D212BAAFFA}"/>
              </a:ext>
            </a:extLst>
          </p:cNvPr>
          <p:cNvSpPr/>
          <p:nvPr/>
        </p:nvSpPr>
        <p:spPr>
          <a:xfrm>
            <a:off x="2857500" y="2768600"/>
            <a:ext cx="4267200" cy="2794000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169CDC7-84EE-DFC6-B12C-015F4AC300FC}"/>
              </a:ext>
            </a:extLst>
          </p:cNvPr>
          <p:cNvCxnSpPr/>
          <p:nvPr/>
        </p:nvCxnSpPr>
        <p:spPr>
          <a:xfrm flipV="1">
            <a:off x="6413500" y="1651000"/>
            <a:ext cx="1841500" cy="152400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8A83FA5-B3EA-B3EE-7545-F7A4153B2AEF}"/>
              </a:ext>
            </a:extLst>
          </p:cNvPr>
          <p:cNvSpPr/>
          <p:nvPr/>
        </p:nvSpPr>
        <p:spPr>
          <a:xfrm>
            <a:off x="7937500" y="1041400"/>
            <a:ext cx="3619500" cy="1549400"/>
          </a:xfrm>
          <a:prstGeom prst="roundRect">
            <a:avLst/>
          </a:prstGeom>
          <a:solidFill>
            <a:srgbClr val="ECF9FF"/>
          </a:solidFill>
          <a:ln w="15875">
            <a:solidFill>
              <a:srgbClr val="ADAD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AR/R 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채널 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handshake:</a:t>
            </a:r>
          </a:p>
          <a:p>
            <a:pPr algn="ctr"/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ARVALID-ARREADY: read 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주소 수락</a:t>
            </a:r>
          </a:p>
          <a:p>
            <a:pPr algn="ctr"/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RVALID-RREADY: read data phase 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완료</a:t>
            </a:r>
          </a:p>
          <a:p>
            <a:pPr algn="ctr"/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RRESP=0: OKAY 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응답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83D7C12-9F50-9ECB-85D0-CE8680505232}"/>
              </a:ext>
            </a:extLst>
          </p:cNvPr>
          <p:cNvSpPr/>
          <p:nvPr/>
        </p:nvSpPr>
        <p:spPr>
          <a:xfrm>
            <a:off x="7937500" y="2870200"/>
            <a:ext cx="3619500" cy="14224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ARADDR 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요청 순서와 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RDATA 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반환 순서가 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write 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때 저장한 값과 일치한다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마지막 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read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에서는 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RDATA=44444444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가 관측되어 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slv_reg3 readback</a:t>
            </a:r>
            <a:r>
              <a:rPr lang="ko-KR" altLang="en-US" sz="1200">
                <a:solidFill>
                  <a:srgbClr val="000000"/>
                </a:solidFill>
                <a:latin typeface="Malgun Gothic" panose="020B0503020000020004" pitchFamily="50" charset="-127"/>
              </a:rPr>
              <a:t>이 정상임을 확인한다</a:t>
            </a:r>
            <a:r>
              <a:rPr lang="en-US" altLang="ko-KR" sz="1200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12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0A6073-53A1-ABBB-1C4B-04E424A8FBD0}"/>
              </a:ext>
            </a:extLst>
          </p:cNvPr>
          <p:cNvSpPr/>
          <p:nvPr/>
        </p:nvSpPr>
        <p:spPr>
          <a:xfrm>
            <a:off x="1473200" y="5943600"/>
            <a:ext cx="1168400" cy="27940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</a:rPr>
              <a:t>286 ns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1F86DF5-4D11-8DED-EA31-59E81E1CBCBA}"/>
              </a:ext>
            </a:extLst>
          </p:cNvPr>
          <p:cNvSpPr/>
          <p:nvPr/>
        </p:nvSpPr>
        <p:spPr>
          <a:xfrm>
            <a:off x="2870200" y="5943600"/>
            <a:ext cx="1168400" cy="27940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</a:rPr>
              <a:t>336 ns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8C83E4C-199E-EDBC-BEFE-85E542B7113A}"/>
              </a:ext>
            </a:extLst>
          </p:cNvPr>
          <p:cNvSpPr/>
          <p:nvPr/>
        </p:nvSpPr>
        <p:spPr>
          <a:xfrm>
            <a:off x="4279900" y="5943600"/>
            <a:ext cx="1168400" cy="27940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</a:rPr>
              <a:t>386 ns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6E4166A-146B-B18A-D260-2F1C592F51B4}"/>
              </a:ext>
            </a:extLst>
          </p:cNvPr>
          <p:cNvSpPr/>
          <p:nvPr/>
        </p:nvSpPr>
        <p:spPr>
          <a:xfrm>
            <a:off x="5689600" y="5943600"/>
            <a:ext cx="1168400" cy="279400"/>
          </a:xfrm>
          <a:prstGeom prst="round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</a:rPr>
              <a:t>436 ns</a:t>
            </a:r>
            <a:endParaRPr lang="ko-KR" altLang="en-US" sz="11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4CDA76-80AE-6097-E4EC-C83C1D53A90A}"/>
              </a:ext>
            </a:extLst>
          </p:cNvPr>
          <p:cNvSpPr txBox="1"/>
          <p:nvPr/>
        </p:nvSpPr>
        <p:spPr>
          <a:xfrm>
            <a:off x="1320800" y="6273800"/>
            <a:ext cx="1473200" cy="205184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altLang="ko-KR" sz="1000">
                <a:solidFill>
                  <a:srgbClr val="000000"/>
                </a:solidFill>
                <a:latin typeface="Malgun Gothic" panose="020B0503020000020004" pitchFamily="50" charset="-127"/>
              </a:rPr>
              <a:t>0x00 -&gt; 11111111</a:t>
            </a:r>
            <a:endParaRPr lang="ko-KR" altLang="en-US" sz="10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D46D91-A811-241C-5861-BE441C8B70AF}"/>
              </a:ext>
            </a:extLst>
          </p:cNvPr>
          <p:cNvSpPr txBox="1"/>
          <p:nvPr/>
        </p:nvSpPr>
        <p:spPr>
          <a:xfrm>
            <a:off x="2717800" y="6273800"/>
            <a:ext cx="1473200" cy="205184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altLang="ko-KR" sz="1000">
                <a:solidFill>
                  <a:srgbClr val="000000"/>
                </a:solidFill>
                <a:latin typeface="Malgun Gothic" panose="020B0503020000020004" pitchFamily="50" charset="-127"/>
              </a:rPr>
              <a:t>0x04 -&gt; 22222222</a:t>
            </a:r>
            <a:endParaRPr lang="ko-KR" altLang="en-US" sz="10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EAF054-3075-DE4A-6A5A-C0F69FD7AC66}"/>
              </a:ext>
            </a:extLst>
          </p:cNvPr>
          <p:cNvSpPr txBox="1"/>
          <p:nvPr/>
        </p:nvSpPr>
        <p:spPr>
          <a:xfrm>
            <a:off x="4140200" y="6273800"/>
            <a:ext cx="1473200" cy="205184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altLang="ko-KR" sz="1000">
                <a:solidFill>
                  <a:srgbClr val="000000"/>
                </a:solidFill>
                <a:latin typeface="Malgun Gothic" panose="020B0503020000020004" pitchFamily="50" charset="-127"/>
              </a:rPr>
              <a:t>0x08 -&gt; 33333333</a:t>
            </a:r>
            <a:endParaRPr lang="ko-KR" altLang="en-US" sz="10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830B1D-45AA-F360-7600-97353C6AB15C}"/>
              </a:ext>
            </a:extLst>
          </p:cNvPr>
          <p:cNvSpPr txBox="1"/>
          <p:nvPr/>
        </p:nvSpPr>
        <p:spPr>
          <a:xfrm>
            <a:off x="5562600" y="6273800"/>
            <a:ext cx="1473200" cy="205184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altLang="ko-KR" sz="1000">
                <a:solidFill>
                  <a:srgbClr val="000000"/>
                </a:solidFill>
                <a:latin typeface="Malgun Gothic" panose="020B0503020000020004" pitchFamily="50" charset="-127"/>
              </a:rPr>
              <a:t>0x0C -&gt; 44444444</a:t>
            </a:r>
            <a:endParaRPr lang="ko-KR" altLang="en-US" sz="10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9298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EFF973-D9F1-B6F2-1C23-D35DF04508C4}"/>
              </a:ext>
            </a:extLst>
          </p:cNvPr>
          <p:cNvSpPr txBox="1"/>
          <p:nvPr/>
        </p:nvSpPr>
        <p:spPr>
          <a:xfrm>
            <a:off x="431800" y="304800"/>
            <a:ext cx="10922000" cy="40523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ko-KR" altLang="en-US" sz="2300" b="1">
                <a:solidFill>
                  <a:srgbClr val="000000"/>
                </a:solidFill>
                <a:latin typeface="Malgun Gothic" panose="020B0503020000020004" pitchFamily="50" charset="-127"/>
              </a:rPr>
              <a:t>시뮬레이션 검증 결과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73580B9-B9DF-2326-8A08-CA7A01508463}"/>
              </a:ext>
            </a:extLst>
          </p:cNvPr>
          <p:cNvSpPr/>
          <p:nvPr/>
        </p:nvSpPr>
        <p:spPr>
          <a:xfrm>
            <a:off x="889000" y="1168400"/>
            <a:ext cx="10414000" cy="889000"/>
          </a:xfrm>
          <a:prstGeom prst="roundRect">
            <a:avLst/>
          </a:prstGeom>
          <a:solidFill>
            <a:srgbClr val="ECF9FF"/>
          </a:solidFill>
          <a:ln w="15875">
            <a:solidFill>
              <a:srgbClr val="ADAD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ko-KR" sz="1400">
                <a:solidFill>
                  <a:srgbClr val="000000"/>
                </a:solidFill>
                <a:latin typeface="Malgun Gothic" panose="020B0503020000020004" pitchFamily="50" charset="-127"/>
              </a:rPr>
              <a:t>custom AXI4_master</a:t>
            </a:r>
            <a:r>
              <a:rPr lang="ko-KR" altLang="en-US" sz="1400">
                <a:solidFill>
                  <a:srgbClr val="000000"/>
                </a:solidFill>
                <a:latin typeface="Malgun Gothic" panose="020B0503020000020004" pitchFamily="50" charset="-127"/>
              </a:rPr>
              <a:t>가 </a:t>
            </a:r>
            <a:r>
              <a:rPr lang="en-US" altLang="ko-KR" sz="1400">
                <a:solidFill>
                  <a:srgbClr val="000000"/>
                </a:solidFill>
                <a:latin typeface="Malgun Gothic" panose="020B0503020000020004" pitchFamily="50" charset="-127"/>
              </a:rPr>
              <a:t>Xilinx AXI Template Slave(myip_v1_0_S00_AXI)</a:t>
            </a:r>
            <a:r>
              <a:rPr lang="ko-KR" altLang="en-US" sz="1400">
                <a:solidFill>
                  <a:srgbClr val="000000"/>
                </a:solidFill>
                <a:latin typeface="Malgun Gothic" panose="020B0503020000020004" pitchFamily="50" charset="-127"/>
              </a:rPr>
              <a:t>의 </a:t>
            </a:r>
            <a:r>
              <a:rPr lang="en-US" altLang="ko-KR" sz="1400">
                <a:solidFill>
                  <a:srgbClr val="000000"/>
                </a:solidFill>
                <a:latin typeface="Malgun Gothic" panose="020B0503020000020004" pitchFamily="50" charset="-127"/>
              </a:rPr>
              <a:t>AXI4-Lite write/read </a:t>
            </a:r>
            <a:r>
              <a:rPr lang="ko-KR" altLang="en-US" sz="1400">
                <a:solidFill>
                  <a:srgbClr val="000000"/>
                </a:solidFill>
                <a:latin typeface="Malgun Gothic" panose="020B0503020000020004" pitchFamily="50" charset="-127"/>
              </a:rPr>
              <a:t>채널을 구동하도록 연결하였다</a:t>
            </a:r>
            <a:r>
              <a:rPr lang="en-US" altLang="ko-KR" sz="1400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B398EED-1F66-D51A-517B-89FD1CF8E749}"/>
              </a:ext>
            </a:extLst>
          </p:cNvPr>
          <p:cNvSpPr/>
          <p:nvPr/>
        </p:nvSpPr>
        <p:spPr>
          <a:xfrm>
            <a:off x="889000" y="2349500"/>
            <a:ext cx="10414000" cy="14986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ko-KR" sz="1400">
                <a:solidFill>
                  <a:srgbClr val="000000"/>
                </a:solidFill>
                <a:latin typeface="Malgun Gothic" panose="020B0503020000020004" pitchFamily="50" charset="-127"/>
              </a:rPr>
              <a:t>Write </a:t>
            </a:r>
            <a:r>
              <a:rPr lang="ko-KR" altLang="en-US" sz="1400">
                <a:solidFill>
                  <a:srgbClr val="000000"/>
                </a:solidFill>
                <a:latin typeface="Malgun Gothic" panose="020B0503020000020004" pitchFamily="50" charset="-127"/>
              </a:rPr>
              <a:t>결과</a:t>
            </a:r>
            <a:r>
              <a:rPr lang="en-US" altLang="ko-KR" sz="1400">
                <a:solidFill>
                  <a:srgbClr val="000000"/>
                </a:solidFill>
                <a:latin typeface="Malgun Gothic" panose="020B0503020000020004" pitchFamily="50" charset="-127"/>
              </a:rPr>
              <a:t>:</a:t>
            </a:r>
          </a:p>
          <a:p>
            <a:pPr algn="ctr"/>
            <a:r>
              <a:rPr lang="en-US" altLang="ko-KR" sz="1400">
                <a:solidFill>
                  <a:srgbClr val="000000"/>
                </a:solidFill>
                <a:latin typeface="Malgun Gothic" panose="020B0503020000020004" pitchFamily="50" charset="-127"/>
              </a:rPr>
              <a:t>86 ns: 0x00 &lt;= 11111111    136 ns: 0x04 &lt;= 22222222</a:t>
            </a:r>
          </a:p>
          <a:p>
            <a:pPr algn="ctr"/>
            <a:r>
              <a:rPr lang="en-US" altLang="ko-KR" sz="1400">
                <a:solidFill>
                  <a:srgbClr val="000000"/>
                </a:solidFill>
                <a:latin typeface="Malgun Gothic" panose="020B0503020000020004" pitchFamily="50" charset="-127"/>
              </a:rPr>
              <a:t>186 ns: 0x08 &lt;= 33333333   236 ns: 0x0C &lt;= 44444444</a:t>
            </a:r>
            <a:endParaRPr lang="ko-KR" altLang="en-US" sz="14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48B959A-2E9F-C343-48C3-4ACD19985500}"/>
              </a:ext>
            </a:extLst>
          </p:cNvPr>
          <p:cNvSpPr/>
          <p:nvPr/>
        </p:nvSpPr>
        <p:spPr>
          <a:xfrm>
            <a:off x="889000" y="4191000"/>
            <a:ext cx="10414000" cy="149860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ctr"/>
            <a:r>
              <a:rPr lang="en-US" altLang="ko-KR" sz="1400">
                <a:solidFill>
                  <a:srgbClr val="000000"/>
                </a:solidFill>
                <a:latin typeface="Malgun Gothic" panose="020B0503020000020004" pitchFamily="50" charset="-127"/>
              </a:rPr>
              <a:t>Read </a:t>
            </a:r>
            <a:r>
              <a:rPr lang="ko-KR" altLang="en-US" sz="1400">
                <a:solidFill>
                  <a:srgbClr val="000000"/>
                </a:solidFill>
                <a:latin typeface="Malgun Gothic" panose="020B0503020000020004" pitchFamily="50" charset="-127"/>
              </a:rPr>
              <a:t>결과</a:t>
            </a:r>
            <a:r>
              <a:rPr lang="en-US" altLang="ko-KR" sz="1400">
                <a:solidFill>
                  <a:srgbClr val="000000"/>
                </a:solidFill>
                <a:latin typeface="Malgun Gothic" panose="020B0503020000020004" pitchFamily="50" charset="-127"/>
              </a:rPr>
              <a:t>:</a:t>
            </a:r>
          </a:p>
          <a:p>
            <a:pPr algn="ctr"/>
            <a:r>
              <a:rPr lang="en-US" altLang="ko-KR" sz="1400">
                <a:solidFill>
                  <a:srgbClr val="000000"/>
                </a:solidFill>
                <a:latin typeface="Malgun Gothic" panose="020B0503020000020004" pitchFamily="50" charset="-127"/>
              </a:rPr>
              <a:t>286 ns: 0x00 -&gt; 11111111   336 ns: 0x04 -&gt; 22222222</a:t>
            </a:r>
          </a:p>
          <a:p>
            <a:pPr algn="ctr"/>
            <a:r>
              <a:rPr lang="en-US" altLang="ko-KR" sz="1400">
                <a:solidFill>
                  <a:srgbClr val="000000"/>
                </a:solidFill>
                <a:latin typeface="Malgun Gothic" panose="020B0503020000020004" pitchFamily="50" charset="-127"/>
              </a:rPr>
              <a:t>386 ns: 0x08 -&gt; 33333333   436 ns: 0x0C -&gt; 44444444</a:t>
            </a:r>
            <a:endParaRPr lang="ko-KR" altLang="en-US" sz="14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6E0E2-4336-E6CB-181D-D72DD3AAD6EE}"/>
              </a:ext>
            </a:extLst>
          </p:cNvPr>
          <p:cNvSpPr txBox="1"/>
          <p:nvPr/>
        </p:nvSpPr>
        <p:spPr>
          <a:xfrm>
            <a:off x="1168400" y="6159500"/>
            <a:ext cx="9779000" cy="29751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altLang="ko-KR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PASS: Xilinx AXI Template Slave</a:t>
            </a:r>
            <a:r>
              <a:rPr lang="ko-KR" altLang="en-US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의 </a:t>
            </a:r>
            <a:r>
              <a:rPr lang="en-US" altLang="ko-KR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개 내부 레지스터가 </a:t>
            </a:r>
            <a:r>
              <a:rPr lang="en-US" altLang="ko-KR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AXI4-Lite transaction</a:t>
            </a:r>
            <a:r>
              <a:rPr lang="ko-KR" altLang="en-US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으로 정상 </a:t>
            </a:r>
            <a:r>
              <a:rPr lang="en-US" altLang="ko-KR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write/read </a:t>
            </a:r>
            <a:r>
              <a:rPr lang="ko-KR" altLang="en-US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됨</a:t>
            </a:r>
            <a:r>
              <a:rPr lang="en-US" altLang="ko-KR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875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와이드스크린</PresentationFormat>
  <Paragraphs>41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hanlim Kim</dc:creator>
  <cp:lastModifiedBy>hanlim Kim</cp:lastModifiedBy>
  <cp:revision>2</cp:revision>
  <dcterms:created xsi:type="dcterms:W3CDTF">2026-06-22T00:54:49Z</dcterms:created>
  <dcterms:modified xsi:type="dcterms:W3CDTF">2026-06-22T00:59:38Z</dcterms:modified>
</cp:coreProperties>
</file>