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56" d="100"/>
          <a:sy n="156" d="100"/>
        </p:scale>
        <p:origin x="456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8F75BA-933C-9033-80AE-1AF21A8960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2B4259B0-CD8E-4D5E-31A7-970FD1DB87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A312B47-3A9D-7095-FC10-FA2A353BB5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8F1C4D-C244-489A-A8BE-9DB24C3C54F8}" type="datetimeFigureOut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3C66132-1F4E-CB2E-1914-19707C95A2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7757B70-69B6-030F-F541-C68C0D6F4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5FF618-8B85-43E6-A73A-F14EAED92B8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52676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7597D0-C1EA-1D2A-70AF-5119A5C4A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A92C296-F8E2-34CF-FC89-03FA6FF893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55BF7DF-6091-A426-C9DB-A65572CF5C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8F1C4D-C244-489A-A8BE-9DB24C3C54F8}" type="datetimeFigureOut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E75867B-B3A2-1158-1C55-ABD785A2E5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FAA7B1C-E526-900A-954F-EC59B7CFC0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5FF618-8B85-43E6-A73A-F14EAED92B8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64264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C822D0-80E0-DB4A-4484-3140E5B3C0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E1996A5-4A75-C8F5-D88A-83482A7B58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E283E29-D448-C613-5F0F-D7DDC8FB6E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8F1C4D-C244-489A-A8BE-9DB24C3C54F8}" type="datetimeFigureOut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443A258-6B56-85C5-35BD-F4197E37F7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365B413-93A2-5C1B-6BA8-10199BA80E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5FF618-8B85-43E6-A73A-F14EAED92B8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280721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A7380E-402E-CBA1-B02C-9BF0389D17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AADDA32-C54C-1A70-723E-665BC3C595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AFB8ADF-1B90-7FCA-3C5D-D8EE860318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601609C-6200-5BBE-1857-5998C674DF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8F1C4D-C244-489A-A8BE-9DB24C3C54F8}" type="datetimeFigureOut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07B5122-6978-90AB-DBAC-D33C48316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3C5CE33-8164-9B16-5EE4-BB5D05DEBD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5FF618-8B85-43E6-A73A-F14EAED92B8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93465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5AE5E90-9A19-E188-2FE7-2F02CE713E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DE5A6BE-D26C-A3DE-D93F-C8F7322784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65C679F-F643-8B0F-D9DD-44BA715044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4BB4710-1F8C-2CE1-B950-744C8F5D81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686A13F3-CE47-5ACA-DDD3-585F92F1B00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0FB2A4F-D521-39A3-5E7E-78E085C15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8F1C4D-C244-489A-A8BE-9DB24C3C54F8}" type="datetimeFigureOut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8A98F2FC-371D-2AA6-AFF3-5B57999E6A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A80CAC9-7994-0672-6FB5-DC2E56DFC0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5FF618-8B85-43E6-A73A-F14EAED92B8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05450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CC2606-C42B-305E-E9FE-A43DA6D967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A0BB003-C871-17A7-7C98-60BD495546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8F1C4D-C244-489A-A8BE-9DB24C3C54F8}" type="datetimeFigureOut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F2FF350-A73F-EF62-8C83-6BA7EC4696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1F51134-AB5A-1BE0-9599-202E4E046D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5FF618-8B85-43E6-A73A-F14EAED92B8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89796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687AEDF-A7D6-05FB-89BB-59C97F8140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8F1C4D-C244-489A-A8BE-9DB24C3C54F8}" type="datetimeFigureOut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70664E02-333A-DE5C-657E-3399E32328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91628E1-5105-FF12-9FA4-F931EAD9B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5FF618-8B85-43E6-A73A-F14EAED92B8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53086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D738DD5-B4E8-8FD3-CEF6-61AAAB5214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F8521C7-D8FB-2955-4376-2DA6DCD9AC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294AF51-2129-6741-BF56-D2F937D434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24B9B64-75E7-CCE1-5412-291804D912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8F1C4D-C244-489A-A8BE-9DB24C3C54F8}" type="datetimeFigureOut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B80CF22-9468-9A88-F604-72DFC26CC5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3FF258D-326A-C3DB-7346-91E97A376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5FF618-8B85-43E6-A73A-F14EAED92B8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28264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1D4AF5-F5DC-2F7D-35CE-77C255ACA5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1BE447CA-5764-D39E-0E59-2EEA36DC0D5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999FC44-25E2-E58E-3E64-3A3E64D01B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CA0C94D-11B1-97B4-9191-A03A91C042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8F1C4D-C244-489A-A8BE-9DB24C3C54F8}" type="datetimeFigureOut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1EB7746-A655-24FD-5CF7-52A09EEF72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4D10A29-7C46-4ABE-7882-FC121CD036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5FF618-8B85-43E6-A73A-F14EAED92B8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65420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3CAC558-89CF-AF1F-E4FD-6AE6922800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715530E-0FC7-8AAE-FF64-DABEA2ED74E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D906980-37D4-78B3-6870-8BA7DA090D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8F1C4D-C244-489A-A8BE-9DB24C3C54F8}" type="datetimeFigureOut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235E276-64F1-DEEF-9A66-B637E91D94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44E4464-C04B-4BA0-DAA7-55B469AE9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5FF618-8B85-43E6-A73A-F14EAED92B8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61534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4C72ADAB-92BD-E8E4-BD9B-9B69E72675C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A6B3897-15C0-FFAE-C280-87064CC3AE9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3200B50-CE34-E53B-1AF6-55EE437793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8F1C4D-C244-489A-A8BE-9DB24C3C54F8}" type="datetimeFigureOut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2D1F4AA-513A-6794-C33B-E74AB74803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76C5A6F-34D7-1BD0-4006-4352AB7FC8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5FF618-8B85-43E6-A73A-F14EAED92B8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039783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7809F0DB-A9C7-3A02-9400-561F49762A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E6C2CA8-3D80-0E49-616A-B5E4CFA078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D8D622D-0A2B-562B-7AAE-9098430DC75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8F1C4D-C244-489A-A8BE-9DB24C3C54F8}" type="datetimeFigureOut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0E8EA39-456F-DE9C-45BE-02B0A69026A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150BD11-8D1F-4C2A-435E-216434894F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A5FF618-8B85-43E6-A73A-F14EAED92B8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92545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D425E97-5901-BE9E-25E1-642EA750913B}"/>
              </a:ext>
            </a:extLst>
          </p:cNvPr>
          <p:cNvSpPr txBox="1"/>
          <p:nvPr/>
        </p:nvSpPr>
        <p:spPr>
          <a:xfrm>
            <a:off x="431800" y="254000"/>
            <a:ext cx="11176000" cy="420628"/>
          </a:xfrm>
          <a:prstGeom prst="rect">
            <a:avLst/>
          </a:prstGeom>
          <a:noFill/>
        </p:spPr>
        <p:txBody>
          <a:bodyPr vert="horz" lIns="63500" tIns="25400" rIns="63500" bIns="25400" rtlCol="0">
            <a:spAutoFit/>
          </a:bodyPr>
          <a:lstStyle/>
          <a:p>
            <a:r>
              <a:rPr lang="en-US" altLang="ko-KR" sz="2400" b="1">
                <a:solidFill>
                  <a:srgbClr val="000000"/>
                </a:solidFill>
                <a:latin typeface="Malgun Gothic" panose="020B0503020000020004" pitchFamily="50" charset="-127"/>
              </a:rPr>
              <a:t>Vivado/XSim Waveform </a:t>
            </a:r>
            <a:r>
              <a:rPr lang="ko-KR" altLang="en-US" sz="2400" b="1">
                <a:solidFill>
                  <a:srgbClr val="000000"/>
                </a:solidFill>
                <a:latin typeface="Malgun Gothic" panose="020B0503020000020004" pitchFamily="50" charset="-127"/>
              </a:rPr>
              <a:t>분석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4C54466-A833-0348-EE77-922E61681AEA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800" y="1168400"/>
            <a:ext cx="5334000" cy="4978400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D57A59C4-9898-4A8C-86E4-1F6DD3623A0C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3500" y="1168400"/>
            <a:ext cx="5334000" cy="4978400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BA8DA2CA-290E-0F74-9E0D-9CA90C0EF441}"/>
              </a:ext>
            </a:extLst>
          </p:cNvPr>
          <p:cNvSpPr/>
          <p:nvPr/>
        </p:nvSpPr>
        <p:spPr>
          <a:xfrm>
            <a:off x="609600" y="1295400"/>
            <a:ext cx="1841500" cy="304800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12700" rIns="50800" bIns="12700" rtlCol="0" anchor="ctr"/>
          <a:lstStyle/>
          <a:p>
            <a:pPr algn="ctr"/>
            <a:r>
              <a:rPr lang="en-US" altLang="ko-KR" sz="1100" b="1">
                <a:solidFill>
                  <a:srgbClr val="FFFFFF"/>
                </a:solidFill>
                <a:latin typeface="Malgun Gothic" panose="020B0503020000020004" pitchFamily="50" charset="-127"/>
              </a:rPr>
              <a:t>WRITE waveform</a:t>
            </a:r>
            <a:endParaRPr lang="ko-KR" altLang="en-US" sz="1100" b="1">
              <a:solidFill>
                <a:srgbClr val="FFFFFF"/>
              </a:solidFill>
              <a:latin typeface="Malgun Gothic" panose="020B0503020000020004" pitchFamily="50" charset="-127"/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ACB4DF80-AD43-13ED-3554-D69E60402C4B}"/>
              </a:ext>
            </a:extLst>
          </p:cNvPr>
          <p:cNvSpPr/>
          <p:nvPr/>
        </p:nvSpPr>
        <p:spPr>
          <a:xfrm>
            <a:off x="6604000" y="1295400"/>
            <a:ext cx="1714500" cy="304800"/>
          </a:xfrm>
          <a:prstGeom prst="roundRect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12700" rIns="50800" bIns="12700" rtlCol="0" anchor="ctr"/>
          <a:lstStyle/>
          <a:p>
            <a:pPr algn="ctr"/>
            <a:r>
              <a:rPr lang="en-US" altLang="ko-KR" sz="1100" b="1">
                <a:solidFill>
                  <a:srgbClr val="FFFFFF"/>
                </a:solidFill>
                <a:latin typeface="Malgun Gothic" panose="020B0503020000020004" pitchFamily="50" charset="-127"/>
              </a:rPr>
              <a:t>READ waveform</a:t>
            </a:r>
            <a:endParaRPr lang="ko-KR" altLang="en-US" sz="1100" b="1">
              <a:solidFill>
                <a:srgbClr val="FFFFFF"/>
              </a:solidFill>
              <a:latin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421351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그림 16">
            <a:extLst>
              <a:ext uri="{FF2B5EF4-FFF2-40B4-BE49-F238E27FC236}">
                <a16:creationId xmlns:a16="http://schemas.microsoft.com/office/drawing/2014/main" id="{74B1403E-6F49-4EB4-910E-31AC013D475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61937"/>
            <a:ext cx="8064071" cy="451021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D504739-DDFD-0424-9BED-9628A4E7BAA0}"/>
              </a:ext>
            </a:extLst>
          </p:cNvPr>
          <p:cNvSpPr txBox="1"/>
          <p:nvPr/>
        </p:nvSpPr>
        <p:spPr>
          <a:xfrm>
            <a:off x="381000" y="228600"/>
            <a:ext cx="10668000" cy="389850"/>
          </a:xfrm>
          <a:prstGeom prst="rect">
            <a:avLst/>
          </a:prstGeom>
          <a:noFill/>
        </p:spPr>
        <p:txBody>
          <a:bodyPr vert="horz" lIns="63500" tIns="25400" rIns="63500" bIns="25400" rtlCol="0">
            <a:spAutoFit/>
          </a:bodyPr>
          <a:lstStyle/>
          <a:p>
            <a:r>
              <a:rPr lang="en-US" altLang="ko-KR" sz="2200" b="1">
                <a:solidFill>
                  <a:srgbClr val="000000"/>
                </a:solidFill>
                <a:latin typeface="Malgun Gothic" panose="020B0503020000020004" pitchFamily="50" charset="-127"/>
              </a:rPr>
              <a:t>Write Transaction Waveform</a:t>
            </a:r>
            <a:endParaRPr lang="ko-KR" altLang="en-US" sz="2200" b="1">
              <a:solidFill>
                <a:srgbClr val="000000"/>
              </a:solidFill>
              <a:latin typeface="Malgun Gothic" panose="020B0503020000020004" pitchFamily="50" charset="-127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C2B6692-F682-5DDE-4D33-2FDD3A35B339}"/>
              </a:ext>
            </a:extLst>
          </p:cNvPr>
          <p:cNvSpPr/>
          <p:nvPr/>
        </p:nvSpPr>
        <p:spPr>
          <a:xfrm>
            <a:off x="2405670" y="1914717"/>
            <a:ext cx="336506" cy="276162"/>
          </a:xfrm>
          <a:prstGeom prst="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73468EE2-5CE8-3154-8A1C-89BB6C8766FF}"/>
              </a:ext>
            </a:extLst>
          </p:cNvPr>
          <p:cNvSpPr/>
          <p:nvPr/>
        </p:nvSpPr>
        <p:spPr>
          <a:xfrm>
            <a:off x="8342536" y="1329835"/>
            <a:ext cx="3619500" cy="1371600"/>
          </a:xfrm>
          <a:prstGeom prst="roundRect">
            <a:avLst/>
          </a:prstGeom>
          <a:solidFill>
            <a:srgbClr val="ECF9FF"/>
          </a:solidFill>
          <a:ln w="15875">
            <a:solidFill>
              <a:srgbClr val="ADADA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63500" rIns="101600" bIns="63500" rtlCol="0" anchor="ctr"/>
          <a:lstStyle/>
          <a:p>
            <a:pPr algn="ctr"/>
            <a:r>
              <a:rPr lang="en-US" altLang="ko-KR" sz="1200">
                <a:solidFill>
                  <a:srgbClr val="000000"/>
                </a:solidFill>
                <a:latin typeface="Malgun Gothic" panose="020B0503020000020004" pitchFamily="50" charset="-127"/>
              </a:rPr>
              <a:t>AW/W/B </a:t>
            </a:r>
            <a:r>
              <a:rPr lang="ko-KR" altLang="en-US" sz="1200">
                <a:solidFill>
                  <a:srgbClr val="000000"/>
                </a:solidFill>
                <a:latin typeface="Malgun Gothic" panose="020B0503020000020004" pitchFamily="50" charset="-127"/>
              </a:rPr>
              <a:t>채널 </a:t>
            </a:r>
            <a:r>
              <a:rPr lang="en-US" altLang="ko-KR" sz="1200">
                <a:solidFill>
                  <a:srgbClr val="000000"/>
                </a:solidFill>
                <a:latin typeface="Malgun Gothic" panose="020B0503020000020004" pitchFamily="50" charset="-127"/>
              </a:rPr>
              <a:t>handshake:</a:t>
            </a:r>
          </a:p>
          <a:p>
            <a:pPr algn="ctr"/>
            <a:r>
              <a:rPr lang="en-US" altLang="ko-KR" sz="1200">
                <a:solidFill>
                  <a:srgbClr val="000000"/>
                </a:solidFill>
                <a:latin typeface="Malgun Gothic" panose="020B0503020000020004" pitchFamily="50" charset="-127"/>
              </a:rPr>
              <a:t>AWVALID-AWREADY: </a:t>
            </a:r>
            <a:r>
              <a:rPr lang="ko-KR" altLang="en-US" sz="1200">
                <a:solidFill>
                  <a:srgbClr val="000000"/>
                </a:solidFill>
                <a:latin typeface="Malgun Gothic" panose="020B0503020000020004" pitchFamily="50" charset="-127"/>
              </a:rPr>
              <a:t>주소 수락</a:t>
            </a:r>
          </a:p>
          <a:p>
            <a:pPr algn="ctr"/>
            <a:r>
              <a:rPr lang="en-US" altLang="ko-KR" sz="1200">
                <a:solidFill>
                  <a:srgbClr val="000000"/>
                </a:solidFill>
                <a:latin typeface="Malgun Gothic" panose="020B0503020000020004" pitchFamily="50" charset="-127"/>
              </a:rPr>
              <a:t>WVALID-WREADY: </a:t>
            </a:r>
            <a:r>
              <a:rPr lang="ko-KR" altLang="en-US" sz="1200">
                <a:solidFill>
                  <a:srgbClr val="000000"/>
                </a:solidFill>
                <a:latin typeface="Malgun Gothic" panose="020B0503020000020004" pitchFamily="50" charset="-127"/>
              </a:rPr>
              <a:t>데이터 수락</a:t>
            </a:r>
          </a:p>
          <a:p>
            <a:pPr algn="ctr"/>
            <a:r>
              <a:rPr lang="en-US" altLang="ko-KR" sz="1200">
                <a:solidFill>
                  <a:srgbClr val="000000"/>
                </a:solidFill>
                <a:latin typeface="Malgun Gothic" panose="020B0503020000020004" pitchFamily="50" charset="-127"/>
              </a:rPr>
              <a:t>BVALID-BREADY: write response </a:t>
            </a:r>
            <a:r>
              <a:rPr lang="ko-KR" altLang="en-US" sz="1200">
                <a:solidFill>
                  <a:srgbClr val="000000"/>
                </a:solidFill>
                <a:latin typeface="Malgun Gothic" panose="020B0503020000020004" pitchFamily="50" charset="-127"/>
              </a:rPr>
              <a:t>완료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DE8D1007-58BC-6B8A-8FB2-68F47295CB34}"/>
              </a:ext>
            </a:extLst>
          </p:cNvPr>
          <p:cNvSpPr/>
          <p:nvPr/>
        </p:nvSpPr>
        <p:spPr>
          <a:xfrm>
            <a:off x="8297958" y="4156566"/>
            <a:ext cx="3619500" cy="1371600"/>
          </a:xfrm>
          <a:prstGeom prst="roundRect">
            <a:avLst/>
          </a:prstGeom>
          <a:solidFill>
            <a:srgbClr val="F2F2F2"/>
          </a:solidFill>
          <a:ln w="158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63500" rIns="101600" bIns="63500" rtlCol="0" anchor="ctr"/>
          <a:lstStyle/>
          <a:p>
            <a:pPr algn="ctr"/>
            <a:r>
              <a:rPr lang="en-US" altLang="ko-KR" sz="1200" dirty="0" err="1">
                <a:solidFill>
                  <a:srgbClr val="000000"/>
                </a:solidFill>
                <a:latin typeface="Malgun Gothic" panose="020B0503020000020004" pitchFamily="50" charset="-127"/>
              </a:rPr>
              <a:t>addr</a:t>
            </a:r>
            <a:r>
              <a:rPr lang="en-US" altLang="ko-KR" sz="1200" dirty="0">
                <a:solidFill>
                  <a:srgbClr val="000000"/>
                </a:solidFill>
                <a:latin typeface="Malgun Gothic" panose="020B0503020000020004" pitchFamily="50" charset="-127"/>
              </a:rPr>
              <a:t>/AWADDR</a:t>
            </a:r>
            <a:r>
              <a:rPr lang="ko-KR" altLang="en-US" sz="1200" dirty="0">
                <a:solidFill>
                  <a:srgbClr val="000000"/>
                </a:solidFill>
                <a:latin typeface="Malgun Gothic" panose="020B0503020000020004" pitchFamily="50" charset="-127"/>
              </a:rPr>
              <a:t>와 </a:t>
            </a:r>
            <a:r>
              <a:rPr lang="en-US" altLang="ko-KR" sz="1200" dirty="0" err="1">
                <a:solidFill>
                  <a:srgbClr val="000000"/>
                </a:solidFill>
                <a:latin typeface="Malgun Gothic" panose="020B0503020000020004" pitchFamily="50" charset="-127"/>
              </a:rPr>
              <a:t>wdata</a:t>
            </a:r>
            <a:r>
              <a:rPr lang="en-US" altLang="ko-KR" sz="1200" dirty="0">
                <a:solidFill>
                  <a:srgbClr val="000000"/>
                </a:solidFill>
                <a:latin typeface="Malgun Gothic" panose="020B0503020000020004" pitchFamily="50" charset="-127"/>
              </a:rPr>
              <a:t>/WDATA</a:t>
            </a:r>
            <a:r>
              <a:rPr lang="ko-KR" altLang="en-US" sz="1200" dirty="0">
                <a:solidFill>
                  <a:srgbClr val="000000"/>
                </a:solidFill>
                <a:latin typeface="Malgun Gothic" panose="020B0503020000020004" pitchFamily="50" charset="-127"/>
              </a:rPr>
              <a:t>가 같은 순서로 </a:t>
            </a:r>
            <a:r>
              <a:rPr lang="en-US" altLang="ko-KR" sz="1200" dirty="0">
                <a:solidFill>
                  <a:srgbClr val="000000"/>
                </a:solidFill>
                <a:latin typeface="Malgun Gothic" panose="020B0503020000020004" pitchFamily="50" charset="-127"/>
              </a:rPr>
              <a:t>0x00, 0x04, 0x08, 0x0C </a:t>
            </a:r>
            <a:r>
              <a:rPr lang="ko-KR" altLang="en-US" sz="1200" dirty="0">
                <a:solidFill>
                  <a:srgbClr val="000000"/>
                </a:solidFill>
                <a:latin typeface="Malgun Gothic" panose="020B0503020000020004" pitchFamily="50" charset="-127"/>
              </a:rPr>
              <a:t>및 </a:t>
            </a:r>
            <a:r>
              <a:rPr lang="en-US" altLang="ko-KR" sz="1200" dirty="0">
                <a:solidFill>
                  <a:srgbClr val="000000"/>
                </a:solidFill>
                <a:latin typeface="Malgun Gothic" panose="020B0503020000020004" pitchFamily="50" charset="-127"/>
              </a:rPr>
              <a:t>11111111~44444444</a:t>
            </a:r>
            <a:r>
              <a:rPr lang="ko-KR" altLang="en-US" sz="1200" dirty="0">
                <a:solidFill>
                  <a:srgbClr val="000000"/>
                </a:solidFill>
                <a:latin typeface="Malgun Gothic" panose="020B0503020000020004" pitchFamily="50" charset="-127"/>
              </a:rPr>
              <a:t>를 전달한다</a:t>
            </a:r>
            <a:r>
              <a:rPr lang="en-US" altLang="ko-KR" sz="1200" dirty="0">
                <a:solidFill>
                  <a:srgbClr val="000000"/>
                </a:solidFill>
                <a:latin typeface="Malgun Gothic" panose="020B0503020000020004" pitchFamily="50" charset="-127"/>
              </a:rPr>
              <a:t>. </a:t>
            </a:r>
            <a:br>
              <a:rPr lang="en-US" altLang="ko-KR" sz="1200" dirty="0">
                <a:solidFill>
                  <a:srgbClr val="000000"/>
                </a:solidFill>
                <a:latin typeface="Malgun Gothic" panose="020B0503020000020004" pitchFamily="50" charset="-127"/>
              </a:rPr>
            </a:br>
            <a:r>
              <a:rPr lang="en-US" altLang="ko-KR" sz="1200" dirty="0">
                <a:solidFill>
                  <a:srgbClr val="000000"/>
                </a:solidFill>
                <a:latin typeface="Malgun Gothic" panose="020B0503020000020004" pitchFamily="50" charset="-127"/>
              </a:rPr>
              <a:t>slave</a:t>
            </a:r>
            <a:r>
              <a:rPr lang="ko-KR" altLang="en-US" sz="1200" dirty="0">
                <a:solidFill>
                  <a:srgbClr val="000000"/>
                </a:solidFill>
                <a:latin typeface="Malgun Gothic" panose="020B0503020000020004" pitchFamily="50" charset="-127"/>
              </a:rPr>
              <a:t>는 각 </a:t>
            </a:r>
            <a:r>
              <a:rPr lang="en-US" altLang="ko-KR" sz="1200" dirty="0">
                <a:solidFill>
                  <a:srgbClr val="000000"/>
                </a:solidFill>
                <a:latin typeface="Malgun Gothic" panose="020B0503020000020004" pitchFamily="50" charset="-127"/>
              </a:rPr>
              <a:t>transaction</a:t>
            </a:r>
            <a:r>
              <a:rPr lang="ko-KR" altLang="en-US" sz="1200" dirty="0">
                <a:solidFill>
                  <a:srgbClr val="000000"/>
                </a:solidFill>
                <a:latin typeface="Malgun Gothic" panose="020B0503020000020004" pitchFamily="50" charset="-127"/>
              </a:rPr>
              <a:t>마다 </a:t>
            </a:r>
            <a:br>
              <a:rPr lang="en-US" altLang="ko-KR" sz="1200" dirty="0">
                <a:solidFill>
                  <a:srgbClr val="000000"/>
                </a:solidFill>
                <a:latin typeface="Malgun Gothic" panose="020B0503020000020004" pitchFamily="50" charset="-127"/>
              </a:rPr>
            </a:br>
            <a:r>
              <a:rPr lang="en-US" altLang="ko-KR" sz="1200" dirty="0">
                <a:solidFill>
                  <a:srgbClr val="000000"/>
                </a:solidFill>
                <a:latin typeface="Malgun Gothic" panose="020B0503020000020004" pitchFamily="50" charset="-127"/>
              </a:rPr>
              <a:t>BVALID/BRESP</a:t>
            </a:r>
            <a:r>
              <a:rPr lang="ko-KR" altLang="en-US" sz="1200" dirty="0">
                <a:solidFill>
                  <a:srgbClr val="000000"/>
                </a:solidFill>
                <a:latin typeface="Malgun Gothic" panose="020B0503020000020004" pitchFamily="50" charset="-127"/>
              </a:rPr>
              <a:t>로 정상 응답한다</a:t>
            </a:r>
            <a:r>
              <a:rPr lang="en-US" altLang="ko-KR" sz="1200" dirty="0">
                <a:solidFill>
                  <a:srgbClr val="000000"/>
                </a:solidFill>
                <a:latin typeface="Malgun Gothic" panose="020B0503020000020004" pitchFamily="50" charset="-127"/>
              </a:rPr>
              <a:t>.</a:t>
            </a:r>
            <a:endParaRPr lang="ko-KR" altLang="en-US" sz="1200" dirty="0">
              <a:solidFill>
                <a:srgbClr val="000000"/>
              </a:solidFill>
              <a:latin typeface="Malgun Gothic" panose="020B0503020000020004" pitchFamily="50" charset="-127"/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2AB7401D-24AC-BCEB-7574-B09DE2609339}"/>
              </a:ext>
            </a:extLst>
          </p:cNvPr>
          <p:cNvSpPr/>
          <p:nvPr/>
        </p:nvSpPr>
        <p:spPr>
          <a:xfrm>
            <a:off x="1473200" y="5943600"/>
            <a:ext cx="1168400" cy="279400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12700" rIns="50800" bIns="12700" rtlCol="0" anchor="ctr"/>
          <a:lstStyle/>
          <a:p>
            <a:pPr algn="ctr"/>
            <a:r>
              <a:rPr lang="en-US" altLang="ko-KR" sz="1100" b="1">
                <a:solidFill>
                  <a:srgbClr val="FFFFFF"/>
                </a:solidFill>
                <a:latin typeface="Malgun Gothic" panose="020B0503020000020004" pitchFamily="50" charset="-127"/>
              </a:rPr>
              <a:t>86 ns</a:t>
            </a:r>
            <a:endParaRPr lang="ko-KR" altLang="en-US" sz="1100" b="1">
              <a:solidFill>
                <a:srgbClr val="FFFFFF"/>
              </a:solidFill>
              <a:latin typeface="Malgun Gothic" panose="020B0503020000020004" pitchFamily="50" charset="-127"/>
            </a:endParaRP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F2B03E60-3A5C-DCE1-5537-5CBF5DA8EF31}"/>
              </a:ext>
            </a:extLst>
          </p:cNvPr>
          <p:cNvSpPr/>
          <p:nvPr/>
        </p:nvSpPr>
        <p:spPr>
          <a:xfrm>
            <a:off x="2870200" y="5943600"/>
            <a:ext cx="1168400" cy="279400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12700" rIns="50800" bIns="12700" rtlCol="0" anchor="ctr"/>
          <a:lstStyle/>
          <a:p>
            <a:pPr algn="ctr"/>
            <a:r>
              <a:rPr lang="en-US" altLang="ko-KR" sz="1100" b="1">
                <a:solidFill>
                  <a:srgbClr val="FFFFFF"/>
                </a:solidFill>
                <a:latin typeface="Malgun Gothic" panose="020B0503020000020004" pitchFamily="50" charset="-127"/>
              </a:rPr>
              <a:t>136 ns</a:t>
            </a:r>
            <a:endParaRPr lang="ko-KR" altLang="en-US" sz="1100" b="1">
              <a:solidFill>
                <a:srgbClr val="FFFFFF"/>
              </a:solidFill>
              <a:latin typeface="Malgun Gothic" panose="020B0503020000020004" pitchFamily="50" charset="-127"/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F19D7165-827E-BB61-53AB-737A81D0D36A}"/>
              </a:ext>
            </a:extLst>
          </p:cNvPr>
          <p:cNvSpPr/>
          <p:nvPr/>
        </p:nvSpPr>
        <p:spPr>
          <a:xfrm>
            <a:off x="4279900" y="5943600"/>
            <a:ext cx="1168400" cy="279400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12700" rIns="50800" bIns="12700" rtlCol="0" anchor="ctr"/>
          <a:lstStyle/>
          <a:p>
            <a:pPr algn="ctr"/>
            <a:r>
              <a:rPr lang="en-US" altLang="ko-KR" sz="1100" b="1">
                <a:solidFill>
                  <a:srgbClr val="FFFFFF"/>
                </a:solidFill>
                <a:latin typeface="Malgun Gothic" panose="020B0503020000020004" pitchFamily="50" charset="-127"/>
              </a:rPr>
              <a:t>186 ns</a:t>
            </a:r>
            <a:endParaRPr lang="ko-KR" altLang="en-US" sz="1100" b="1">
              <a:solidFill>
                <a:srgbClr val="FFFFFF"/>
              </a:solidFill>
              <a:latin typeface="Malgun Gothic" panose="020B0503020000020004" pitchFamily="50" charset="-127"/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CD4220EE-F635-84F4-37DF-2639369424BF}"/>
              </a:ext>
            </a:extLst>
          </p:cNvPr>
          <p:cNvSpPr/>
          <p:nvPr/>
        </p:nvSpPr>
        <p:spPr>
          <a:xfrm>
            <a:off x="5689600" y="5943600"/>
            <a:ext cx="1168400" cy="279400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12700" rIns="50800" bIns="12700" rtlCol="0" anchor="ctr"/>
          <a:lstStyle/>
          <a:p>
            <a:pPr algn="ctr"/>
            <a:r>
              <a:rPr lang="en-US" altLang="ko-KR" sz="1100" b="1">
                <a:solidFill>
                  <a:srgbClr val="FFFFFF"/>
                </a:solidFill>
                <a:latin typeface="Malgun Gothic" panose="020B0503020000020004" pitchFamily="50" charset="-127"/>
              </a:rPr>
              <a:t>236 ns</a:t>
            </a:r>
            <a:endParaRPr lang="ko-KR" altLang="en-US" sz="1100" b="1">
              <a:solidFill>
                <a:srgbClr val="FFFFFF"/>
              </a:solidFill>
              <a:latin typeface="Malgun Gothic" panose="020B0503020000020004" pitchFamily="50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9982944-B673-0BF1-9D4A-467CA483F39A}"/>
              </a:ext>
            </a:extLst>
          </p:cNvPr>
          <p:cNvSpPr txBox="1"/>
          <p:nvPr/>
        </p:nvSpPr>
        <p:spPr>
          <a:xfrm>
            <a:off x="1320800" y="6273800"/>
            <a:ext cx="1473200" cy="205184"/>
          </a:xfrm>
          <a:prstGeom prst="rect">
            <a:avLst/>
          </a:prstGeom>
          <a:noFill/>
        </p:spPr>
        <p:txBody>
          <a:bodyPr vert="horz" lIns="63500" tIns="25400" rIns="63500" bIns="25400" rtlCol="0">
            <a:spAutoFit/>
          </a:bodyPr>
          <a:lstStyle/>
          <a:p>
            <a:r>
              <a:rPr lang="en-US" altLang="ko-KR" sz="1000">
                <a:solidFill>
                  <a:srgbClr val="000000"/>
                </a:solidFill>
                <a:latin typeface="Malgun Gothic" panose="020B0503020000020004" pitchFamily="50" charset="-127"/>
              </a:rPr>
              <a:t>0x00 / 11111111</a:t>
            </a:r>
            <a:endParaRPr lang="ko-KR" altLang="en-US" sz="1000">
              <a:solidFill>
                <a:srgbClr val="000000"/>
              </a:solidFill>
              <a:latin typeface="Malgun Gothic" panose="020B0503020000020004" pitchFamily="50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55B04CD-BE8D-26D1-9781-617F15AFC8B0}"/>
              </a:ext>
            </a:extLst>
          </p:cNvPr>
          <p:cNvSpPr txBox="1"/>
          <p:nvPr/>
        </p:nvSpPr>
        <p:spPr>
          <a:xfrm>
            <a:off x="2717800" y="6273800"/>
            <a:ext cx="1473200" cy="205184"/>
          </a:xfrm>
          <a:prstGeom prst="rect">
            <a:avLst/>
          </a:prstGeom>
          <a:noFill/>
        </p:spPr>
        <p:txBody>
          <a:bodyPr vert="horz" lIns="63500" tIns="25400" rIns="63500" bIns="25400" rtlCol="0">
            <a:spAutoFit/>
          </a:bodyPr>
          <a:lstStyle/>
          <a:p>
            <a:r>
              <a:rPr lang="en-US" altLang="ko-KR" sz="1000">
                <a:solidFill>
                  <a:srgbClr val="000000"/>
                </a:solidFill>
                <a:latin typeface="Malgun Gothic" panose="020B0503020000020004" pitchFamily="50" charset="-127"/>
              </a:rPr>
              <a:t>0x04 / 22222222</a:t>
            </a:r>
            <a:endParaRPr lang="ko-KR" altLang="en-US" sz="1000">
              <a:solidFill>
                <a:srgbClr val="000000"/>
              </a:solidFill>
              <a:latin typeface="Malgun Gothic" panose="020B0503020000020004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F4BA24B-7479-8612-3521-BBAA3B8C0882}"/>
              </a:ext>
            </a:extLst>
          </p:cNvPr>
          <p:cNvSpPr txBox="1"/>
          <p:nvPr/>
        </p:nvSpPr>
        <p:spPr>
          <a:xfrm>
            <a:off x="4140200" y="6273800"/>
            <a:ext cx="1473200" cy="205184"/>
          </a:xfrm>
          <a:prstGeom prst="rect">
            <a:avLst/>
          </a:prstGeom>
          <a:noFill/>
        </p:spPr>
        <p:txBody>
          <a:bodyPr vert="horz" lIns="63500" tIns="25400" rIns="63500" bIns="25400" rtlCol="0">
            <a:spAutoFit/>
          </a:bodyPr>
          <a:lstStyle/>
          <a:p>
            <a:r>
              <a:rPr lang="en-US" altLang="ko-KR" sz="1000">
                <a:solidFill>
                  <a:srgbClr val="000000"/>
                </a:solidFill>
                <a:latin typeface="Malgun Gothic" panose="020B0503020000020004" pitchFamily="50" charset="-127"/>
              </a:rPr>
              <a:t>0x08 / 33333333</a:t>
            </a:r>
            <a:endParaRPr lang="ko-KR" altLang="en-US" sz="1000">
              <a:solidFill>
                <a:srgbClr val="000000"/>
              </a:solidFill>
              <a:latin typeface="Malgun Gothic" panose="020B0503020000020004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5BBAEE3-8CA0-C552-DAE4-E05F4A6A1980}"/>
              </a:ext>
            </a:extLst>
          </p:cNvPr>
          <p:cNvSpPr txBox="1"/>
          <p:nvPr/>
        </p:nvSpPr>
        <p:spPr>
          <a:xfrm>
            <a:off x="5562600" y="6273800"/>
            <a:ext cx="1473200" cy="205184"/>
          </a:xfrm>
          <a:prstGeom prst="rect">
            <a:avLst/>
          </a:prstGeom>
          <a:noFill/>
        </p:spPr>
        <p:txBody>
          <a:bodyPr vert="horz" lIns="63500" tIns="25400" rIns="63500" bIns="25400" rtlCol="0">
            <a:spAutoFit/>
          </a:bodyPr>
          <a:lstStyle/>
          <a:p>
            <a:r>
              <a:rPr lang="en-US" altLang="ko-KR" sz="1000">
                <a:solidFill>
                  <a:srgbClr val="000000"/>
                </a:solidFill>
                <a:latin typeface="Malgun Gothic" panose="020B0503020000020004" pitchFamily="50" charset="-127"/>
              </a:rPr>
              <a:t>0x0C / 44444444</a:t>
            </a:r>
            <a:endParaRPr lang="ko-KR" altLang="en-US" sz="1000">
              <a:solidFill>
                <a:srgbClr val="000000"/>
              </a:solidFill>
              <a:latin typeface="Malgun Gothic" panose="020B0503020000020004" pitchFamily="50" charset="-127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A2A097A6-600E-B8B5-CA65-9B54FFD0540A}"/>
              </a:ext>
            </a:extLst>
          </p:cNvPr>
          <p:cNvSpPr/>
          <p:nvPr/>
        </p:nvSpPr>
        <p:spPr>
          <a:xfrm>
            <a:off x="3368143" y="1913695"/>
            <a:ext cx="336506" cy="276162"/>
          </a:xfrm>
          <a:prstGeom prst="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FBAD7CE5-A28D-074C-F6EB-C1055177A136}"/>
              </a:ext>
            </a:extLst>
          </p:cNvPr>
          <p:cNvSpPr/>
          <p:nvPr/>
        </p:nvSpPr>
        <p:spPr>
          <a:xfrm>
            <a:off x="4354992" y="1914717"/>
            <a:ext cx="336506" cy="276162"/>
          </a:xfrm>
          <a:prstGeom prst="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D51D7033-6A40-E07D-9775-86990F574AB2}"/>
              </a:ext>
            </a:extLst>
          </p:cNvPr>
          <p:cNvSpPr/>
          <p:nvPr/>
        </p:nvSpPr>
        <p:spPr>
          <a:xfrm>
            <a:off x="5317465" y="1913695"/>
            <a:ext cx="336506" cy="276162"/>
          </a:xfrm>
          <a:prstGeom prst="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4DA43C44-DC08-C724-617A-99880ED05749}"/>
              </a:ext>
            </a:extLst>
          </p:cNvPr>
          <p:cNvSpPr/>
          <p:nvPr/>
        </p:nvSpPr>
        <p:spPr>
          <a:xfrm>
            <a:off x="2405670" y="2361307"/>
            <a:ext cx="336506" cy="276162"/>
          </a:xfrm>
          <a:prstGeom prst="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0B7DD87B-01EF-5DAB-9486-A2011D051EA9}"/>
              </a:ext>
            </a:extLst>
          </p:cNvPr>
          <p:cNvSpPr/>
          <p:nvPr/>
        </p:nvSpPr>
        <p:spPr>
          <a:xfrm>
            <a:off x="3368143" y="2360285"/>
            <a:ext cx="336506" cy="276162"/>
          </a:xfrm>
          <a:prstGeom prst="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123E3750-8D94-52A0-8520-FCA4C27F5FE3}"/>
              </a:ext>
            </a:extLst>
          </p:cNvPr>
          <p:cNvSpPr/>
          <p:nvPr/>
        </p:nvSpPr>
        <p:spPr>
          <a:xfrm>
            <a:off x="4354992" y="2361307"/>
            <a:ext cx="336506" cy="276162"/>
          </a:xfrm>
          <a:prstGeom prst="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82B54674-24A0-7D84-EB0E-1CF68C85EC9D}"/>
              </a:ext>
            </a:extLst>
          </p:cNvPr>
          <p:cNvSpPr/>
          <p:nvPr/>
        </p:nvSpPr>
        <p:spPr>
          <a:xfrm>
            <a:off x="5317465" y="2360285"/>
            <a:ext cx="336506" cy="276162"/>
          </a:xfrm>
          <a:prstGeom prst="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F2205FB3-0A62-0871-28D4-8CB5BF3B995C}"/>
              </a:ext>
            </a:extLst>
          </p:cNvPr>
          <p:cNvSpPr/>
          <p:nvPr/>
        </p:nvSpPr>
        <p:spPr>
          <a:xfrm>
            <a:off x="2597620" y="2758541"/>
            <a:ext cx="336506" cy="276162"/>
          </a:xfrm>
          <a:prstGeom prst="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C31D083E-2DA5-4029-0C6C-4B5866C16212}"/>
              </a:ext>
            </a:extLst>
          </p:cNvPr>
          <p:cNvSpPr/>
          <p:nvPr/>
        </p:nvSpPr>
        <p:spPr>
          <a:xfrm>
            <a:off x="3560093" y="2757519"/>
            <a:ext cx="336506" cy="276162"/>
          </a:xfrm>
          <a:prstGeom prst="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FC8A237C-DEE8-E98D-8331-E3D989505C75}"/>
              </a:ext>
            </a:extLst>
          </p:cNvPr>
          <p:cNvSpPr/>
          <p:nvPr/>
        </p:nvSpPr>
        <p:spPr>
          <a:xfrm>
            <a:off x="4546942" y="2758541"/>
            <a:ext cx="336506" cy="276162"/>
          </a:xfrm>
          <a:prstGeom prst="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7D96FA70-51C1-478D-38D9-8A4702BBC975}"/>
              </a:ext>
            </a:extLst>
          </p:cNvPr>
          <p:cNvSpPr/>
          <p:nvPr/>
        </p:nvSpPr>
        <p:spPr>
          <a:xfrm>
            <a:off x="5509415" y="2757519"/>
            <a:ext cx="336506" cy="276162"/>
          </a:xfrm>
          <a:prstGeom prst="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1E14E546-F60A-BAA6-922F-7CF47FB0CB80}"/>
              </a:ext>
            </a:extLst>
          </p:cNvPr>
          <p:cNvCxnSpPr>
            <a:cxnSpLocks/>
          </p:cNvCxnSpPr>
          <p:nvPr/>
        </p:nvCxnSpPr>
        <p:spPr>
          <a:xfrm flipH="1">
            <a:off x="5906521" y="1983885"/>
            <a:ext cx="2436015" cy="440196"/>
          </a:xfrm>
          <a:prstGeom prst="line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122836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그림 16">
            <a:extLst>
              <a:ext uri="{FF2B5EF4-FFF2-40B4-BE49-F238E27FC236}">
                <a16:creationId xmlns:a16="http://schemas.microsoft.com/office/drawing/2014/main" id="{0F5BC573-3E68-5E9F-0EE8-2591442033D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221" y="669250"/>
            <a:ext cx="7694125" cy="514735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F53C09D-086E-993A-2F73-C74BF6627506}"/>
              </a:ext>
            </a:extLst>
          </p:cNvPr>
          <p:cNvSpPr txBox="1"/>
          <p:nvPr/>
        </p:nvSpPr>
        <p:spPr>
          <a:xfrm>
            <a:off x="381000" y="228600"/>
            <a:ext cx="10668000" cy="389850"/>
          </a:xfrm>
          <a:prstGeom prst="rect">
            <a:avLst/>
          </a:prstGeom>
          <a:noFill/>
        </p:spPr>
        <p:txBody>
          <a:bodyPr vert="horz" lIns="63500" tIns="25400" rIns="63500" bIns="25400" rtlCol="0">
            <a:spAutoFit/>
          </a:bodyPr>
          <a:lstStyle/>
          <a:p>
            <a:r>
              <a:rPr lang="en-US" altLang="ko-KR" sz="2200" b="1">
                <a:solidFill>
                  <a:srgbClr val="000000"/>
                </a:solidFill>
                <a:latin typeface="Malgun Gothic" panose="020B0503020000020004" pitchFamily="50" charset="-127"/>
              </a:rPr>
              <a:t>Read Transaction Waveform</a:t>
            </a:r>
            <a:endParaRPr lang="ko-KR" altLang="en-US" sz="2200" b="1">
              <a:solidFill>
                <a:srgbClr val="000000"/>
              </a:solidFill>
              <a:latin typeface="Malgun Gothic" panose="020B0503020000020004" pitchFamily="50" charset="-127"/>
            </a:endParaRP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08A83FA5-B3EA-B3EE-7545-F7A4153B2AEF}"/>
              </a:ext>
            </a:extLst>
          </p:cNvPr>
          <p:cNvSpPr/>
          <p:nvPr/>
        </p:nvSpPr>
        <p:spPr>
          <a:xfrm>
            <a:off x="8330136" y="799507"/>
            <a:ext cx="3619500" cy="1549400"/>
          </a:xfrm>
          <a:prstGeom prst="roundRect">
            <a:avLst/>
          </a:prstGeom>
          <a:solidFill>
            <a:srgbClr val="ECF9FF"/>
          </a:solidFill>
          <a:ln w="15875">
            <a:solidFill>
              <a:srgbClr val="ADADA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63500" rIns="101600" bIns="63500" rtlCol="0" anchor="ctr"/>
          <a:lstStyle/>
          <a:p>
            <a:pPr algn="ctr"/>
            <a:r>
              <a:rPr lang="en-US" altLang="ko-KR" sz="1200" dirty="0">
                <a:solidFill>
                  <a:srgbClr val="000000"/>
                </a:solidFill>
                <a:latin typeface="Malgun Gothic" panose="020B0503020000020004" pitchFamily="50" charset="-127"/>
              </a:rPr>
              <a:t>AR/R </a:t>
            </a:r>
            <a:r>
              <a:rPr lang="ko-KR" altLang="en-US" sz="1200" dirty="0">
                <a:solidFill>
                  <a:srgbClr val="000000"/>
                </a:solidFill>
                <a:latin typeface="Malgun Gothic" panose="020B0503020000020004" pitchFamily="50" charset="-127"/>
              </a:rPr>
              <a:t>채널 </a:t>
            </a:r>
            <a:r>
              <a:rPr lang="en-US" altLang="ko-KR" sz="1200" dirty="0">
                <a:solidFill>
                  <a:srgbClr val="000000"/>
                </a:solidFill>
                <a:latin typeface="Malgun Gothic" panose="020B0503020000020004" pitchFamily="50" charset="-127"/>
              </a:rPr>
              <a:t>handshake:</a:t>
            </a:r>
          </a:p>
          <a:p>
            <a:pPr algn="ctr"/>
            <a:r>
              <a:rPr lang="en-US" altLang="ko-KR" sz="1200" dirty="0">
                <a:solidFill>
                  <a:srgbClr val="000000"/>
                </a:solidFill>
                <a:latin typeface="Malgun Gothic" panose="020B0503020000020004" pitchFamily="50" charset="-127"/>
              </a:rPr>
              <a:t>ARVALID-ARREADY: read </a:t>
            </a:r>
            <a:r>
              <a:rPr lang="ko-KR" altLang="en-US" sz="1200" dirty="0">
                <a:solidFill>
                  <a:srgbClr val="000000"/>
                </a:solidFill>
                <a:latin typeface="Malgun Gothic" panose="020B0503020000020004" pitchFamily="50" charset="-127"/>
              </a:rPr>
              <a:t>주소 수락</a:t>
            </a:r>
          </a:p>
          <a:p>
            <a:pPr algn="ctr"/>
            <a:r>
              <a:rPr lang="en-US" altLang="ko-KR" sz="1200" dirty="0">
                <a:solidFill>
                  <a:srgbClr val="000000"/>
                </a:solidFill>
                <a:latin typeface="Malgun Gothic" panose="020B0503020000020004" pitchFamily="50" charset="-127"/>
              </a:rPr>
              <a:t>RVALID-RREADY: read data phase </a:t>
            </a:r>
            <a:r>
              <a:rPr lang="ko-KR" altLang="en-US" sz="1200" dirty="0">
                <a:solidFill>
                  <a:srgbClr val="000000"/>
                </a:solidFill>
                <a:latin typeface="Malgun Gothic" panose="020B0503020000020004" pitchFamily="50" charset="-127"/>
              </a:rPr>
              <a:t>완료</a:t>
            </a:r>
          </a:p>
          <a:p>
            <a:pPr algn="ctr"/>
            <a:r>
              <a:rPr lang="en-US" altLang="ko-KR" sz="1200" dirty="0">
                <a:solidFill>
                  <a:srgbClr val="000000"/>
                </a:solidFill>
                <a:latin typeface="Malgun Gothic" panose="020B0503020000020004" pitchFamily="50" charset="-127"/>
              </a:rPr>
              <a:t>RRESP=0: OKAY </a:t>
            </a:r>
            <a:r>
              <a:rPr lang="ko-KR" altLang="en-US" sz="1200" dirty="0">
                <a:solidFill>
                  <a:srgbClr val="000000"/>
                </a:solidFill>
                <a:latin typeface="Malgun Gothic" panose="020B0503020000020004" pitchFamily="50" charset="-127"/>
              </a:rPr>
              <a:t>응답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F83D7C12-9F50-9ECB-85D0-CE8680505232}"/>
              </a:ext>
            </a:extLst>
          </p:cNvPr>
          <p:cNvSpPr/>
          <p:nvPr/>
        </p:nvSpPr>
        <p:spPr>
          <a:xfrm>
            <a:off x="8255000" y="3919612"/>
            <a:ext cx="3619500" cy="1422400"/>
          </a:xfrm>
          <a:prstGeom prst="roundRect">
            <a:avLst/>
          </a:prstGeom>
          <a:solidFill>
            <a:srgbClr val="F2F2F2"/>
          </a:solidFill>
          <a:ln w="158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63500" rIns="101600" bIns="63500" rtlCol="0" anchor="ctr"/>
          <a:lstStyle/>
          <a:p>
            <a:pPr algn="ctr"/>
            <a:r>
              <a:rPr lang="en-US" altLang="ko-KR" sz="1200">
                <a:solidFill>
                  <a:srgbClr val="000000"/>
                </a:solidFill>
                <a:latin typeface="Malgun Gothic" panose="020B0503020000020004" pitchFamily="50" charset="-127"/>
              </a:rPr>
              <a:t>ARADDR </a:t>
            </a:r>
            <a:r>
              <a:rPr lang="ko-KR" altLang="en-US" sz="1200">
                <a:solidFill>
                  <a:srgbClr val="000000"/>
                </a:solidFill>
                <a:latin typeface="Malgun Gothic" panose="020B0503020000020004" pitchFamily="50" charset="-127"/>
              </a:rPr>
              <a:t>요청 순서와 </a:t>
            </a:r>
            <a:r>
              <a:rPr lang="en-US" altLang="ko-KR" sz="1200">
                <a:solidFill>
                  <a:srgbClr val="000000"/>
                </a:solidFill>
                <a:latin typeface="Malgun Gothic" panose="020B0503020000020004" pitchFamily="50" charset="-127"/>
              </a:rPr>
              <a:t>RDATA </a:t>
            </a:r>
            <a:r>
              <a:rPr lang="ko-KR" altLang="en-US" sz="1200">
                <a:solidFill>
                  <a:srgbClr val="000000"/>
                </a:solidFill>
                <a:latin typeface="Malgun Gothic" panose="020B0503020000020004" pitchFamily="50" charset="-127"/>
              </a:rPr>
              <a:t>반환 순서가 </a:t>
            </a:r>
            <a:r>
              <a:rPr lang="en-US" altLang="ko-KR" sz="1200">
                <a:solidFill>
                  <a:srgbClr val="000000"/>
                </a:solidFill>
                <a:latin typeface="Malgun Gothic" panose="020B0503020000020004" pitchFamily="50" charset="-127"/>
              </a:rPr>
              <a:t>write </a:t>
            </a:r>
            <a:r>
              <a:rPr lang="ko-KR" altLang="en-US" sz="1200">
                <a:solidFill>
                  <a:srgbClr val="000000"/>
                </a:solidFill>
                <a:latin typeface="Malgun Gothic" panose="020B0503020000020004" pitchFamily="50" charset="-127"/>
              </a:rPr>
              <a:t>때 저장한 값과 일치한다</a:t>
            </a:r>
            <a:r>
              <a:rPr lang="en-US" altLang="ko-KR" sz="1200">
                <a:solidFill>
                  <a:srgbClr val="000000"/>
                </a:solidFill>
                <a:latin typeface="Malgun Gothic" panose="020B0503020000020004" pitchFamily="50" charset="-127"/>
              </a:rPr>
              <a:t>. </a:t>
            </a:r>
            <a:r>
              <a:rPr lang="ko-KR" altLang="en-US" sz="1200">
                <a:solidFill>
                  <a:srgbClr val="000000"/>
                </a:solidFill>
                <a:latin typeface="Malgun Gothic" panose="020B0503020000020004" pitchFamily="50" charset="-127"/>
              </a:rPr>
              <a:t>마지막 </a:t>
            </a:r>
            <a:r>
              <a:rPr lang="en-US" altLang="ko-KR" sz="1200">
                <a:solidFill>
                  <a:srgbClr val="000000"/>
                </a:solidFill>
                <a:latin typeface="Malgun Gothic" panose="020B0503020000020004" pitchFamily="50" charset="-127"/>
              </a:rPr>
              <a:t>read</a:t>
            </a:r>
            <a:r>
              <a:rPr lang="ko-KR" altLang="en-US" sz="1200">
                <a:solidFill>
                  <a:srgbClr val="000000"/>
                </a:solidFill>
                <a:latin typeface="Malgun Gothic" panose="020B0503020000020004" pitchFamily="50" charset="-127"/>
              </a:rPr>
              <a:t>에서는 </a:t>
            </a:r>
            <a:r>
              <a:rPr lang="en-US" altLang="ko-KR" sz="1200">
                <a:solidFill>
                  <a:srgbClr val="000000"/>
                </a:solidFill>
                <a:latin typeface="Malgun Gothic" panose="020B0503020000020004" pitchFamily="50" charset="-127"/>
              </a:rPr>
              <a:t>RDATA=44444444</a:t>
            </a:r>
            <a:r>
              <a:rPr lang="ko-KR" altLang="en-US" sz="1200">
                <a:solidFill>
                  <a:srgbClr val="000000"/>
                </a:solidFill>
                <a:latin typeface="Malgun Gothic" panose="020B0503020000020004" pitchFamily="50" charset="-127"/>
              </a:rPr>
              <a:t>가 관측되어 </a:t>
            </a:r>
            <a:r>
              <a:rPr lang="en-US" altLang="ko-KR" sz="1200">
                <a:solidFill>
                  <a:srgbClr val="000000"/>
                </a:solidFill>
                <a:latin typeface="Malgun Gothic" panose="020B0503020000020004" pitchFamily="50" charset="-127"/>
              </a:rPr>
              <a:t>slv_reg3 readback</a:t>
            </a:r>
            <a:r>
              <a:rPr lang="ko-KR" altLang="en-US" sz="1200">
                <a:solidFill>
                  <a:srgbClr val="000000"/>
                </a:solidFill>
                <a:latin typeface="Malgun Gothic" panose="020B0503020000020004" pitchFamily="50" charset="-127"/>
              </a:rPr>
              <a:t>이 정상임을 확인한다</a:t>
            </a:r>
            <a:r>
              <a:rPr lang="en-US" altLang="ko-KR" sz="1200">
                <a:solidFill>
                  <a:srgbClr val="000000"/>
                </a:solidFill>
                <a:latin typeface="Malgun Gothic" panose="020B0503020000020004" pitchFamily="50" charset="-127"/>
              </a:rPr>
              <a:t>.</a:t>
            </a:r>
            <a:endParaRPr lang="ko-KR" altLang="en-US" sz="1200">
              <a:solidFill>
                <a:srgbClr val="000000"/>
              </a:solidFill>
              <a:latin typeface="Malgun Gothic" panose="020B0503020000020004" pitchFamily="50" charset="-127"/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310A6073-53A1-ABBB-1C4B-04E424A8FBD0}"/>
              </a:ext>
            </a:extLst>
          </p:cNvPr>
          <p:cNvSpPr/>
          <p:nvPr/>
        </p:nvSpPr>
        <p:spPr>
          <a:xfrm>
            <a:off x="1473200" y="5943600"/>
            <a:ext cx="1168400" cy="279400"/>
          </a:xfrm>
          <a:prstGeom prst="roundRect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12700" rIns="50800" bIns="12700" rtlCol="0" anchor="ctr"/>
          <a:lstStyle/>
          <a:p>
            <a:pPr algn="ctr"/>
            <a:r>
              <a:rPr lang="en-US" altLang="ko-KR" sz="1100" b="1">
                <a:solidFill>
                  <a:srgbClr val="FFFFFF"/>
                </a:solidFill>
                <a:latin typeface="Malgun Gothic" panose="020B0503020000020004" pitchFamily="50" charset="-127"/>
              </a:rPr>
              <a:t>286 ns</a:t>
            </a:r>
            <a:endParaRPr lang="ko-KR" altLang="en-US" sz="1100" b="1">
              <a:solidFill>
                <a:srgbClr val="FFFFFF"/>
              </a:solidFill>
              <a:latin typeface="Malgun Gothic" panose="020B0503020000020004" pitchFamily="50" charset="-127"/>
            </a:endParaRP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61F86DF5-4D11-8DED-EA31-59E81E1CBCBA}"/>
              </a:ext>
            </a:extLst>
          </p:cNvPr>
          <p:cNvSpPr/>
          <p:nvPr/>
        </p:nvSpPr>
        <p:spPr>
          <a:xfrm>
            <a:off x="2870200" y="5943600"/>
            <a:ext cx="1168400" cy="279400"/>
          </a:xfrm>
          <a:prstGeom prst="roundRect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12700" rIns="50800" bIns="12700" rtlCol="0" anchor="ctr"/>
          <a:lstStyle/>
          <a:p>
            <a:pPr algn="ctr"/>
            <a:r>
              <a:rPr lang="en-US" altLang="ko-KR" sz="1100" b="1">
                <a:solidFill>
                  <a:srgbClr val="FFFFFF"/>
                </a:solidFill>
                <a:latin typeface="Malgun Gothic" panose="020B0503020000020004" pitchFamily="50" charset="-127"/>
              </a:rPr>
              <a:t>336 ns</a:t>
            </a:r>
            <a:endParaRPr lang="ko-KR" altLang="en-US" sz="1100" b="1">
              <a:solidFill>
                <a:srgbClr val="FFFFFF"/>
              </a:solidFill>
              <a:latin typeface="Malgun Gothic" panose="020B0503020000020004" pitchFamily="50" charset="-127"/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F8C83E4C-199E-EDBC-BEFE-85E542B7113A}"/>
              </a:ext>
            </a:extLst>
          </p:cNvPr>
          <p:cNvSpPr/>
          <p:nvPr/>
        </p:nvSpPr>
        <p:spPr>
          <a:xfrm>
            <a:off x="4279900" y="5943600"/>
            <a:ext cx="1168400" cy="279400"/>
          </a:xfrm>
          <a:prstGeom prst="roundRect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12700" rIns="50800" bIns="12700" rtlCol="0" anchor="ctr"/>
          <a:lstStyle/>
          <a:p>
            <a:pPr algn="ctr"/>
            <a:r>
              <a:rPr lang="en-US" altLang="ko-KR" sz="1100" b="1">
                <a:solidFill>
                  <a:srgbClr val="FFFFFF"/>
                </a:solidFill>
                <a:latin typeface="Malgun Gothic" panose="020B0503020000020004" pitchFamily="50" charset="-127"/>
              </a:rPr>
              <a:t>386 ns</a:t>
            </a:r>
            <a:endParaRPr lang="ko-KR" altLang="en-US" sz="1100" b="1">
              <a:solidFill>
                <a:srgbClr val="FFFFFF"/>
              </a:solidFill>
              <a:latin typeface="Malgun Gothic" panose="020B0503020000020004" pitchFamily="50" charset="-127"/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66E4166A-146B-B18A-D260-2F1C592F51B4}"/>
              </a:ext>
            </a:extLst>
          </p:cNvPr>
          <p:cNvSpPr/>
          <p:nvPr/>
        </p:nvSpPr>
        <p:spPr>
          <a:xfrm>
            <a:off x="5689600" y="5943600"/>
            <a:ext cx="1168400" cy="279400"/>
          </a:xfrm>
          <a:prstGeom prst="roundRect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12700" rIns="50800" bIns="12700" rtlCol="0" anchor="ctr"/>
          <a:lstStyle/>
          <a:p>
            <a:pPr algn="ctr"/>
            <a:r>
              <a:rPr lang="en-US" altLang="ko-KR" sz="1100" b="1">
                <a:solidFill>
                  <a:srgbClr val="FFFFFF"/>
                </a:solidFill>
                <a:latin typeface="Malgun Gothic" panose="020B0503020000020004" pitchFamily="50" charset="-127"/>
              </a:rPr>
              <a:t>436 ns</a:t>
            </a:r>
            <a:endParaRPr lang="ko-KR" altLang="en-US" sz="1100" b="1">
              <a:solidFill>
                <a:srgbClr val="FFFFFF"/>
              </a:solidFill>
              <a:latin typeface="Malgun Gothic" panose="020B0503020000020004" pitchFamily="50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24CDA76-80AE-6097-E4EC-C83C1D53A90A}"/>
              </a:ext>
            </a:extLst>
          </p:cNvPr>
          <p:cNvSpPr txBox="1"/>
          <p:nvPr/>
        </p:nvSpPr>
        <p:spPr>
          <a:xfrm>
            <a:off x="1320800" y="6273800"/>
            <a:ext cx="1473200" cy="205184"/>
          </a:xfrm>
          <a:prstGeom prst="rect">
            <a:avLst/>
          </a:prstGeom>
          <a:noFill/>
        </p:spPr>
        <p:txBody>
          <a:bodyPr vert="horz" lIns="63500" tIns="25400" rIns="63500" bIns="25400" rtlCol="0">
            <a:spAutoFit/>
          </a:bodyPr>
          <a:lstStyle/>
          <a:p>
            <a:r>
              <a:rPr lang="en-US" altLang="ko-KR" sz="1000">
                <a:solidFill>
                  <a:srgbClr val="000000"/>
                </a:solidFill>
                <a:latin typeface="Malgun Gothic" panose="020B0503020000020004" pitchFamily="50" charset="-127"/>
              </a:rPr>
              <a:t>0x00 -&gt; 11111111</a:t>
            </a:r>
            <a:endParaRPr lang="ko-KR" altLang="en-US" sz="1000">
              <a:solidFill>
                <a:srgbClr val="000000"/>
              </a:solidFill>
              <a:latin typeface="Malgun Gothic" panose="020B0503020000020004" pitchFamily="50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6D91-A811-241C-5861-BE441C8B70AF}"/>
              </a:ext>
            </a:extLst>
          </p:cNvPr>
          <p:cNvSpPr txBox="1"/>
          <p:nvPr/>
        </p:nvSpPr>
        <p:spPr>
          <a:xfrm>
            <a:off x="2717800" y="6273800"/>
            <a:ext cx="1473200" cy="205184"/>
          </a:xfrm>
          <a:prstGeom prst="rect">
            <a:avLst/>
          </a:prstGeom>
          <a:noFill/>
        </p:spPr>
        <p:txBody>
          <a:bodyPr vert="horz" lIns="63500" tIns="25400" rIns="63500" bIns="25400" rtlCol="0">
            <a:spAutoFit/>
          </a:bodyPr>
          <a:lstStyle/>
          <a:p>
            <a:r>
              <a:rPr lang="en-US" altLang="ko-KR" sz="1000">
                <a:solidFill>
                  <a:srgbClr val="000000"/>
                </a:solidFill>
                <a:latin typeface="Malgun Gothic" panose="020B0503020000020004" pitchFamily="50" charset="-127"/>
              </a:rPr>
              <a:t>0x04 -&gt; 22222222</a:t>
            </a:r>
            <a:endParaRPr lang="ko-KR" altLang="en-US" sz="1000">
              <a:solidFill>
                <a:srgbClr val="000000"/>
              </a:solidFill>
              <a:latin typeface="Malgun Gothic" panose="020B0503020000020004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6EAF054-3075-DE4A-6A5A-C0F69FD7AC66}"/>
              </a:ext>
            </a:extLst>
          </p:cNvPr>
          <p:cNvSpPr txBox="1"/>
          <p:nvPr/>
        </p:nvSpPr>
        <p:spPr>
          <a:xfrm>
            <a:off x="4140200" y="6273800"/>
            <a:ext cx="1473200" cy="205184"/>
          </a:xfrm>
          <a:prstGeom prst="rect">
            <a:avLst/>
          </a:prstGeom>
          <a:noFill/>
        </p:spPr>
        <p:txBody>
          <a:bodyPr vert="horz" lIns="63500" tIns="25400" rIns="63500" bIns="25400" rtlCol="0">
            <a:spAutoFit/>
          </a:bodyPr>
          <a:lstStyle/>
          <a:p>
            <a:r>
              <a:rPr lang="en-US" altLang="ko-KR" sz="1000">
                <a:solidFill>
                  <a:srgbClr val="000000"/>
                </a:solidFill>
                <a:latin typeface="Malgun Gothic" panose="020B0503020000020004" pitchFamily="50" charset="-127"/>
              </a:rPr>
              <a:t>0x08 -&gt; 33333333</a:t>
            </a:r>
            <a:endParaRPr lang="ko-KR" altLang="en-US" sz="1000">
              <a:solidFill>
                <a:srgbClr val="000000"/>
              </a:solidFill>
              <a:latin typeface="Malgun Gothic" panose="020B0503020000020004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8830B1D-45AA-F360-7600-97353C6AB15C}"/>
              </a:ext>
            </a:extLst>
          </p:cNvPr>
          <p:cNvSpPr txBox="1"/>
          <p:nvPr/>
        </p:nvSpPr>
        <p:spPr>
          <a:xfrm>
            <a:off x="5562600" y="6273800"/>
            <a:ext cx="1473200" cy="205184"/>
          </a:xfrm>
          <a:prstGeom prst="rect">
            <a:avLst/>
          </a:prstGeom>
          <a:noFill/>
        </p:spPr>
        <p:txBody>
          <a:bodyPr vert="horz" lIns="63500" tIns="25400" rIns="63500" bIns="25400" rtlCol="0">
            <a:spAutoFit/>
          </a:bodyPr>
          <a:lstStyle/>
          <a:p>
            <a:r>
              <a:rPr lang="en-US" altLang="ko-KR" sz="1000">
                <a:solidFill>
                  <a:srgbClr val="000000"/>
                </a:solidFill>
                <a:latin typeface="Malgun Gothic" panose="020B0503020000020004" pitchFamily="50" charset="-127"/>
              </a:rPr>
              <a:t>0x0C -&gt; 44444444</a:t>
            </a:r>
            <a:endParaRPr lang="ko-KR" altLang="en-US" sz="1000">
              <a:solidFill>
                <a:srgbClr val="000000"/>
              </a:solidFill>
              <a:latin typeface="Malgun Gothic" panose="020B0503020000020004" pitchFamily="50" charset="-127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DE1DADDC-5081-357A-204B-82A14E266026}"/>
              </a:ext>
            </a:extLst>
          </p:cNvPr>
          <p:cNvSpPr/>
          <p:nvPr/>
        </p:nvSpPr>
        <p:spPr>
          <a:xfrm>
            <a:off x="2907873" y="2939581"/>
            <a:ext cx="393785" cy="374522"/>
          </a:xfrm>
          <a:prstGeom prst="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EAF2268F-DD14-F6AC-5591-EE18A573C4A0}"/>
              </a:ext>
            </a:extLst>
          </p:cNvPr>
          <p:cNvSpPr/>
          <p:nvPr/>
        </p:nvSpPr>
        <p:spPr>
          <a:xfrm>
            <a:off x="4038600" y="2939581"/>
            <a:ext cx="393785" cy="374522"/>
          </a:xfrm>
          <a:prstGeom prst="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64CFCCCA-1517-7AFC-5087-60AE131047DB}"/>
              </a:ext>
            </a:extLst>
          </p:cNvPr>
          <p:cNvSpPr/>
          <p:nvPr/>
        </p:nvSpPr>
        <p:spPr>
          <a:xfrm>
            <a:off x="5169327" y="2968731"/>
            <a:ext cx="393785" cy="374522"/>
          </a:xfrm>
          <a:prstGeom prst="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ABE202F9-DD17-A165-1BD0-5D7C5F7370DD}"/>
              </a:ext>
            </a:extLst>
          </p:cNvPr>
          <p:cNvSpPr/>
          <p:nvPr/>
        </p:nvSpPr>
        <p:spPr>
          <a:xfrm>
            <a:off x="6300054" y="2968731"/>
            <a:ext cx="393785" cy="374522"/>
          </a:xfrm>
          <a:prstGeom prst="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6BF88ECA-FD6C-327F-4EE2-3C656FFE184C}"/>
              </a:ext>
            </a:extLst>
          </p:cNvPr>
          <p:cNvSpPr/>
          <p:nvPr/>
        </p:nvSpPr>
        <p:spPr>
          <a:xfrm>
            <a:off x="3104765" y="3441103"/>
            <a:ext cx="393785" cy="374522"/>
          </a:xfrm>
          <a:prstGeom prst="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4B43F2E7-74C3-652F-A6F2-1987F151F2FC}"/>
              </a:ext>
            </a:extLst>
          </p:cNvPr>
          <p:cNvSpPr/>
          <p:nvPr/>
        </p:nvSpPr>
        <p:spPr>
          <a:xfrm>
            <a:off x="4235492" y="3441103"/>
            <a:ext cx="393785" cy="374522"/>
          </a:xfrm>
          <a:prstGeom prst="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8C07FE70-E5D3-A81A-655B-FC094349E3CC}"/>
              </a:ext>
            </a:extLst>
          </p:cNvPr>
          <p:cNvSpPr/>
          <p:nvPr/>
        </p:nvSpPr>
        <p:spPr>
          <a:xfrm>
            <a:off x="5366219" y="3441103"/>
            <a:ext cx="393785" cy="374522"/>
          </a:xfrm>
          <a:prstGeom prst="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75518DDC-C472-F4E9-0EF5-1D9547A9D5DC}"/>
              </a:ext>
            </a:extLst>
          </p:cNvPr>
          <p:cNvSpPr/>
          <p:nvPr/>
        </p:nvSpPr>
        <p:spPr>
          <a:xfrm>
            <a:off x="6496946" y="3441103"/>
            <a:ext cx="393785" cy="374522"/>
          </a:xfrm>
          <a:prstGeom prst="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3169CDC7-84EE-DFC6-B12C-015F4AC300FC}"/>
              </a:ext>
            </a:extLst>
          </p:cNvPr>
          <p:cNvCxnSpPr>
            <a:cxnSpLocks/>
          </p:cNvCxnSpPr>
          <p:nvPr/>
        </p:nvCxnSpPr>
        <p:spPr>
          <a:xfrm flipH="1">
            <a:off x="6923291" y="1912550"/>
            <a:ext cx="1856416" cy="1330375"/>
          </a:xfrm>
          <a:prstGeom prst="line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2372A897-E6A5-A149-DAC2-763EB5324F2D}"/>
              </a:ext>
            </a:extLst>
          </p:cNvPr>
          <p:cNvSpPr/>
          <p:nvPr/>
        </p:nvSpPr>
        <p:spPr>
          <a:xfrm>
            <a:off x="6603318" y="4737696"/>
            <a:ext cx="1549028" cy="257751"/>
          </a:xfrm>
          <a:prstGeom prst="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92980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0EFF973-D9F1-B6F2-1C23-D35DF04508C4}"/>
              </a:ext>
            </a:extLst>
          </p:cNvPr>
          <p:cNvSpPr txBox="1"/>
          <p:nvPr/>
        </p:nvSpPr>
        <p:spPr>
          <a:xfrm>
            <a:off x="431800" y="304800"/>
            <a:ext cx="10922000" cy="405239"/>
          </a:xfrm>
          <a:prstGeom prst="rect">
            <a:avLst/>
          </a:prstGeom>
          <a:noFill/>
        </p:spPr>
        <p:txBody>
          <a:bodyPr vert="horz" lIns="63500" tIns="25400" rIns="63500" bIns="25400" rtlCol="0">
            <a:spAutoFit/>
          </a:bodyPr>
          <a:lstStyle/>
          <a:p>
            <a:r>
              <a:rPr lang="ko-KR" altLang="en-US" sz="2300" b="1">
                <a:solidFill>
                  <a:srgbClr val="000000"/>
                </a:solidFill>
                <a:latin typeface="Malgun Gothic" panose="020B0503020000020004" pitchFamily="50" charset="-127"/>
              </a:rPr>
              <a:t>시뮬레이션 검증 결과</a:t>
            </a: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373580B9-B9DF-2326-8A08-CA7A01508463}"/>
              </a:ext>
            </a:extLst>
          </p:cNvPr>
          <p:cNvSpPr/>
          <p:nvPr/>
        </p:nvSpPr>
        <p:spPr>
          <a:xfrm>
            <a:off x="889000" y="1168400"/>
            <a:ext cx="10414000" cy="889000"/>
          </a:xfrm>
          <a:prstGeom prst="roundRect">
            <a:avLst/>
          </a:prstGeom>
          <a:solidFill>
            <a:srgbClr val="ECF9FF"/>
          </a:solidFill>
          <a:ln w="15875">
            <a:solidFill>
              <a:srgbClr val="ADADA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63500" rIns="101600" bIns="63500" rtlCol="0" anchor="ctr"/>
          <a:lstStyle/>
          <a:p>
            <a:pPr algn="ctr"/>
            <a:r>
              <a:rPr lang="en-US" altLang="ko-KR" sz="1400">
                <a:solidFill>
                  <a:srgbClr val="000000"/>
                </a:solidFill>
                <a:latin typeface="Malgun Gothic" panose="020B0503020000020004" pitchFamily="50" charset="-127"/>
              </a:rPr>
              <a:t>custom AXI4_master</a:t>
            </a:r>
            <a:r>
              <a:rPr lang="ko-KR" altLang="en-US" sz="1400">
                <a:solidFill>
                  <a:srgbClr val="000000"/>
                </a:solidFill>
                <a:latin typeface="Malgun Gothic" panose="020B0503020000020004" pitchFamily="50" charset="-127"/>
              </a:rPr>
              <a:t>가 </a:t>
            </a:r>
            <a:r>
              <a:rPr lang="en-US" altLang="ko-KR" sz="1400">
                <a:solidFill>
                  <a:srgbClr val="000000"/>
                </a:solidFill>
                <a:latin typeface="Malgun Gothic" panose="020B0503020000020004" pitchFamily="50" charset="-127"/>
              </a:rPr>
              <a:t>Xilinx AXI Template Slave(myip_v1_0_S00_AXI)</a:t>
            </a:r>
            <a:r>
              <a:rPr lang="ko-KR" altLang="en-US" sz="1400">
                <a:solidFill>
                  <a:srgbClr val="000000"/>
                </a:solidFill>
                <a:latin typeface="Malgun Gothic" panose="020B0503020000020004" pitchFamily="50" charset="-127"/>
              </a:rPr>
              <a:t>의 </a:t>
            </a:r>
            <a:r>
              <a:rPr lang="en-US" altLang="ko-KR" sz="1400">
                <a:solidFill>
                  <a:srgbClr val="000000"/>
                </a:solidFill>
                <a:latin typeface="Malgun Gothic" panose="020B0503020000020004" pitchFamily="50" charset="-127"/>
              </a:rPr>
              <a:t>AXI4-Lite write/read </a:t>
            </a:r>
            <a:r>
              <a:rPr lang="ko-KR" altLang="en-US" sz="1400">
                <a:solidFill>
                  <a:srgbClr val="000000"/>
                </a:solidFill>
                <a:latin typeface="Malgun Gothic" panose="020B0503020000020004" pitchFamily="50" charset="-127"/>
              </a:rPr>
              <a:t>채널을 구동하도록 연결하였다</a:t>
            </a:r>
            <a:r>
              <a:rPr lang="en-US" altLang="ko-KR" sz="1400">
                <a:solidFill>
                  <a:srgbClr val="000000"/>
                </a:solidFill>
                <a:latin typeface="Malgun Gothic" panose="020B0503020000020004" pitchFamily="50" charset="-127"/>
              </a:rPr>
              <a:t>.</a:t>
            </a:r>
            <a:endParaRPr lang="ko-KR" altLang="en-US" sz="1400">
              <a:solidFill>
                <a:srgbClr val="000000"/>
              </a:solidFill>
              <a:latin typeface="Malgun Gothic" panose="020B0503020000020004" pitchFamily="50" charset="-127"/>
            </a:endParaRP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1B398EED-1F66-D51A-517B-89FD1CF8E749}"/>
              </a:ext>
            </a:extLst>
          </p:cNvPr>
          <p:cNvSpPr/>
          <p:nvPr/>
        </p:nvSpPr>
        <p:spPr>
          <a:xfrm>
            <a:off x="889000" y="2349500"/>
            <a:ext cx="10414000" cy="1498600"/>
          </a:xfrm>
          <a:prstGeom prst="roundRect">
            <a:avLst/>
          </a:prstGeom>
          <a:solidFill>
            <a:srgbClr val="F2F2F2"/>
          </a:solidFill>
          <a:ln w="158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63500" rIns="101600" bIns="63500" rtlCol="0" anchor="ctr"/>
          <a:lstStyle/>
          <a:p>
            <a:pPr algn="ctr"/>
            <a:r>
              <a:rPr lang="en-US" altLang="ko-KR" sz="1400">
                <a:solidFill>
                  <a:srgbClr val="000000"/>
                </a:solidFill>
                <a:latin typeface="Malgun Gothic" panose="020B0503020000020004" pitchFamily="50" charset="-127"/>
              </a:rPr>
              <a:t>Write </a:t>
            </a:r>
            <a:r>
              <a:rPr lang="ko-KR" altLang="en-US" sz="1400">
                <a:solidFill>
                  <a:srgbClr val="000000"/>
                </a:solidFill>
                <a:latin typeface="Malgun Gothic" panose="020B0503020000020004" pitchFamily="50" charset="-127"/>
              </a:rPr>
              <a:t>결과</a:t>
            </a:r>
            <a:r>
              <a:rPr lang="en-US" altLang="ko-KR" sz="1400">
                <a:solidFill>
                  <a:srgbClr val="000000"/>
                </a:solidFill>
                <a:latin typeface="Malgun Gothic" panose="020B0503020000020004" pitchFamily="50" charset="-127"/>
              </a:rPr>
              <a:t>:</a:t>
            </a:r>
          </a:p>
          <a:p>
            <a:pPr algn="ctr"/>
            <a:r>
              <a:rPr lang="en-US" altLang="ko-KR" sz="1400">
                <a:solidFill>
                  <a:srgbClr val="000000"/>
                </a:solidFill>
                <a:latin typeface="Malgun Gothic" panose="020B0503020000020004" pitchFamily="50" charset="-127"/>
              </a:rPr>
              <a:t>86 ns: 0x00 &lt;= 11111111    136 ns: 0x04 &lt;= 22222222</a:t>
            </a:r>
          </a:p>
          <a:p>
            <a:pPr algn="ctr"/>
            <a:r>
              <a:rPr lang="en-US" altLang="ko-KR" sz="1400">
                <a:solidFill>
                  <a:srgbClr val="000000"/>
                </a:solidFill>
                <a:latin typeface="Malgun Gothic" panose="020B0503020000020004" pitchFamily="50" charset="-127"/>
              </a:rPr>
              <a:t>186 ns: 0x08 &lt;= 33333333   236 ns: 0x0C &lt;= 44444444</a:t>
            </a:r>
            <a:endParaRPr lang="ko-KR" altLang="en-US" sz="1400">
              <a:solidFill>
                <a:srgbClr val="000000"/>
              </a:solidFill>
              <a:latin typeface="Malgun Gothic" panose="020B0503020000020004" pitchFamily="50" charset="-127"/>
            </a:endParaRP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B48B959A-2E9F-C343-48C3-4ACD19985500}"/>
              </a:ext>
            </a:extLst>
          </p:cNvPr>
          <p:cNvSpPr/>
          <p:nvPr/>
        </p:nvSpPr>
        <p:spPr>
          <a:xfrm>
            <a:off x="889000" y="4191000"/>
            <a:ext cx="10414000" cy="1498600"/>
          </a:xfrm>
          <a:prstGeom prst="roundRect">
            <a:avLst/>
          </a:prstGeom>
          <a:solidFill>
            <a:srgbClr val="F2F2F2"/>
          </a:solidFill>
          <a:ln w="158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63500" rIns="101600" bIns="63500" rtlCol="0" anchor="ctr"/>
          <a:lstStyle/>
          <a:p>
            <a:pPr algn="ctr"/>
            <a:r>
              <a:rPr lang="en-US" altLang="ko-KR" sz="1400">
                <a:solidFill>
                  <a:srgbClr val="000000"/>
                </a:solidFill>
                <a:latin typeface="Malgun Gothic" panose="020B0503020000020004" pitchFamily="50" charset="-127"/>
              </a:rPr>
              <a:t>Read </a:t>
            </a:r>
            <a:r>
              <a:rPr lang="ko-KR" altLang="en-US" sz="1400">
                <a:solidFill>
                  <a:srgbClr val="000000"/>
                </a:solidFill>
                <a:latin typeface="Malgun Gothic" panose="020B0503020000020004" pitchFamily="50" charset="-127"/>
              </a:rPr>
              <a:t>결과</a:t>
            </a:r>
            <a:r>
              <a:rPr lang="en-US" altLang="ko-KR" sz="1400">
                <a:solidFill>
                  <a:srgbClr val="000000"/>
                </a:solidFill>
                <a:latin typeface="Malgun Gothic" panose="020B0503020000020004" pitchFamily="50" charset="-127"/>
              </a:rPr>
              <a:t>:</a:t>
            </a:r>
          </a:p>
          <a:p>
            <a:pPr algn="ctr"/>
            <a:r>
              <a:rPr lang="en-US" altLang="ko-KR" sz="1400">
                <a:solidFill>
                  <a:srgbClr val="000000"/>
                </a:solidFill>
                <a:latin typeface="Malgun Gothic" panose="020B0503020000020004" pitchFamily="50" charset="-127"/>
              </a:rPr>
              <a:t>286 ns: 0x00 -&gt; 11111111   336 ns: 0x04 -&gt; 22222222</a:t>
            </a:r>
          </a:p>
          <a:p>
            <a:pPr algn="ctr"/>
            <a:r>
              <a:rPr lang="en-US" altLang="ko-KR" sz="1400">
                <a:solidFill>
                  <a:srgbClr val="000000"/>
                </a:solidFill>
                <a:latin typeface="Malgun Gothic" panose="020B0503020000020004" pitchFamily="50" charset="-127"/>
              </a:rPr>
              <a:t>386 ns: 0x08 -&gt; 33333333   436 ns: 0x0C -&gt; 44444444</a:t>
            </a:r>
            <a:endParaRPr lang="ko-KR" altLang="en-US" sz="1400">
              <a:solidFill>
                <a:srgbClr val="000000"/>
              </a:solidFill>
              <a:latin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4F6E0E2-4336-E6CB-181D-D72DD3AAD6EE}"/>
              </a:ext>
            </a:extLst>
          </p:cNvPr>
          <p:cNvSpPr txBox="1"/>
          <p:nvPr/>
        </p:nvSpPr>
        <p:spPr>
          <a:xfrm>
            <a:off x="1168400" y="6159500"/>
            <a:ext cx="9779000" cy="297517"/>
          </a:xfrm>
          <a:prstGeom prst="rect">
            <a:avLst/>
          </a:prstGeom>
          <a:noFill/>
        </p:spPr>
        <p:txBody>
          <a:bodyPr vert="horz" lIns="63500" tIns="25400" rIns="63500" bIns="25400" rtlCol="0">
            <a:spAutoFit/>
          </a:bodyPr>
          <a:lstStyle/>
          <a:p>
            <a:r>
              <a:rPr lang="en-US" altLang="ko-KR" sz="1600" b="1">
                <a:solidFill>
                  <a:srgbClr val="000000"/>
                </a:solidFill>
                <a:latin typeface="Malgun Gothic" panose="020B0503020000020004" pitchFamily="50" charset="-127"/>
              </a:rPr>
              <a:t>PASS: Xilinx AXI Template Slave</a:t>
            </a:r>
            <a:r>
              <a:rPr lang="ko-KR" altLang="en-US" sz="1600" b="1">
                <a:solidFill>
                  <a:srgbClr val="000000"/>
                </a:solidFill>
                <a:latin typeface="Malgun Gothic" panose="020B0503020000020004" pitchFamily="50" charset="-127"/>
              </a:rPr>
              <a:t>의 </a:t>
            </a:r>
            <a:r>
              <a:rPr lang="en-US" altLang="ko-KR" sz="1600" b="1">
                <a:solidFill>
                  <a:srgbClr val="000000"/>
                </a:solidFill>
                <a:latin typeface="Malgun Gothic" panose="020B0503020000020004" pitchFamily="50" charset="-127"/>
              </a:rPr>
              <a:t>4</a:t>
            </a:r>
            <a:r>
              <a:rPr lang="ko-KR" altLang="en-US" sz="1600" b="1">
                <a:solidFill>
                  <a:srgbClr val="000000"/>
                </a:solidFill>
                <a:latin typeface="Malgun Gothic" panose="020B0503020000020004" pitchFamily="50" charset="-127"/>
              </a:rPr>
              <a:t>개 내부 레지스터가 </a:t>
            </a:r>
            <a:r>
              <a:rPr lang="en-US" altLang="ko-KR" sz="1600" b="1">
                <a:solidFill>
                  <a:srgbClr val="000000"/>
                </a:solidFill>
                <a:latin typeface="Malgun Gothic" panose="020B0503020000020004" pitchFamily="50" charset="-127"/>
              </a:rPr>
              <a:t>AXI4-Lite transaction</a:t>
            </a:r>
            <a:r>
              <a:rPr lang="ko-KR" altLang="en-US" sz="1600" b="1">
                <a:solidFill>
                  <a:srgbClr val="000000"/>
                </a:solidFill>
                <a:latin typeface="Malgun Gothic" panose="020B0503020000020004" pitchFamily="50" charset="-127"/>
              </a:rPr>
              <a:t>으로 정상 </a:t>
            </a:r>
            <a:r>
              <a:rPr lang="en-US" altLang="ko-KR" sz="1600" b="1">
                <a:solidFill>
                  <a:srgbClr val="000000"/>
                </a:solidFill>
                <a:latin typeface="Malgun Gothic" panose="020B0503020000020004" pitchFamily="50" charset="-127"/>
              </a:rPr>
              <a:t>write/read </a:t>
            </a:r>
            <a:r>
              <a:rPr lang="ko-KR" altLang="en-US" sz="1600" b="1">
                <a:solidFill>
                  <a:srgbClr val="000000"/>
                </a:solidFill>
                <a:latin typeface="Malgun Gothic" panose="020B0503020000020004" pitchFamily="50" charset="-127"/>
              </a:rPr>
              <a:t>됨</a:t>
            </a:r>
            <a:r>
              <a:rPr lang="en-US" altLang="ko-KR" sz="1600" b="1">
                <a:solidFill>
                  <a:srgbClr val="000000"/>
                </a:solidFill>
                <a:latin typeface="Malgun Gothic" panose="020B0503020000020004" pitchFamily="50" charset="-127"/>
              </a:rPr>
              <a:t>.</a:t>
            </a:r>
            <a:endParaRPr lang="ko-KR" altLang="en-US" sz="1600" b="1">
              <a:solidFill>
                <a:srgbClr val="000000"/>
              </a:solidFill>
              <a:latin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68752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267</Words>
  <Application>Microsoft Office PowerPoint</Application>
  <PresentationFormat>와이드스크린</PresentationFormat>
  <Paragraphs>40</Paragraphs>
  <Slides>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8" baseType="lpstr">
      <vt:lpstr>맑은 고딕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hanlim Kim</dc:creator>
  <cp:lastModifiedBy>hanlim Kim</cp:lastModifiedBy>
  <cp:revision>3</cp:revision>
  <dcterms:created xsi:type="dcterms:W3CDTF">2026-06-22T00:54:49Z</dcterms:created>
  <dcterms:modified xsi:type="dcterms:W3CDTF">2026-06-22T12:25:29Z</dcterms:modified>
</cp:coreProperties>
</file>